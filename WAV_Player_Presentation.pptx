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</a:defRPr>
    </a:defPPr>
    <a:lvl1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400" b="0" i="0" u="none" strike="noStrike" cap="none" spc="0" baseline="0">
        <a:ln>
          <a:noFill/>
        </a:ln>
        <a:solidFill>
          <a:srgbClr val="000000"/>
        </a:solidFill>
        <a:latin typeface="+mn-lt"/>
        <a:ea typeface="+mn-lt"/>
        <a:cs typeface="+mn-lt"/>
      </a:defRPr>
    </a:lvl1pPr>
    <a:lvl2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400" b="0" i="0" u="none" strike="noStrike" cap="none" spc="0" baseline="0">
        <a:ln>
          <a:noFill/>
        </a:ln>
        <a:solidFill>
          <a:srgbClr val="000000"/>
        </a:solidFill>
        <a:latin typeface="+mn-lt"/>
        <a:ea typeface="+mn-lt"/>
        <a:cs typeface="+mn-lt"/>
      </a:defRPr>
    </a:lvl2pPr>
    <a:lvl3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400" b="0" i="0" u="none" strike="noStrike" cap="none" spc="0" baseline="0">
        <a:ln>
          <a:noFill/>
        </a:ln>
        <a:solidFill>
          <a:srgbClr val="000000"/>
        </a:solidFill>
        <a:latin typeface="+mn-lt"/>
        <a:ea typeface="+mn-lt"/>
        <a:cs typeface="+mn-lt"/>
      </a:defRPr>
    </a:lvl3pPr>
    <a:lvl4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400" b="0" i="0" u="none" strike="noStrike" cap="none" spc="0" baseline="0">
        <a:ln>
          <a:noFill/>
        </a:ln>
        <a:solidFill>
          <a:srgbClr val="000000"/>
        </a:solidFill>
        <a:latin typeface="+mn-lt"/>
        <a:ea typeface="+mn-lt"/>
        <a:cs typeface="+mn-lt"/>
      </a:defRPr>
    </a:lvl4pPr>
    <a:lvl5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400" b="0" i="0" u="none" strike="noStrike" cap="none" spc="0" baseline="0">
        <a:ln>
          <a:noFill/>
        </a:ln>
        <a:solidFill>
          <a:srgbClr val="000000"/>
        </a:solidFill>
        <a:latin typeface="+mn-lt"/>
        <a:ea typeface="+mn-lt"/>
        <a:cs typeface="+mn-lt"/>
      </a:defRPr>
    </a:lvl5pPr>
    <a:lvl6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400" b="0" i="0" u="none" strike="noStrike" cap="none" spc="0" baseline="0">
        <a:ln>
          <a:noFill/>
        </a:ln>
        <a:solidFill>
          <a:srgbClr val="000000"/>
        </a:solidFill>
        <a:latin typeface="+mn-lt"/>
        <a:ea typeface="+mn-lt"/>
        <a:cs typeface="+mn-lt"/>
      </a:defRPr>
    </a:lvl6pPr>
    <a:lvl7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400" b="0" i="0" u="none" strike="noStrike" cap="none" spc="0" baseline="0">
        <a:ln>
          <a:noFill/>
        </a:ln>
        <a:solidFill>
          <a:srgbClr val="000000"/>
        </a:solidFill>
        <a:latin typeface="+mn-lt"/>
        <a:ea typeface="+mn-lt"/>
        <a:cs typeface="+mn-lt"/>
      </a:defRPr>
    </a:lvl7pPr>
    <a:lvl8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400" b="0" i="0" u="none" strike="noStrike" cap="none" spc="0" baseline="0">
        <a:ln>
          <a:noFill/>
        </a:ln>
        <a:solidFill>
          <a:srgbClr val="000000"/>
        </a:solidFill>
        <a:latin typeface="+mn-lt"/>
        <a:ea typeface="+mn-lt"/>
        <a:cs typeface="+mn-lt"/>
      </a:defRPr>
    </a:lvl8pPr>
    <a:lvl9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400" b="0" i="0" u="none" strike="noStrike" cap="none" spc="0" baseline="0">
        <a:ln>
          <a:noFill/>
        </a:ln>
        <a:solidFill>
          <a:srgbClr val="000000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8FB"/>
          </a:solidFill>
        </a:fill>
      </a:tcStyle>
    </a:wholeTbl>
    <a:band2H>
      <a:tcTxStyle/>
      <a:tcStyle>
        <a:tcBdr/>
        <a:fill>
          <a:solidFill>
            <a:srgbClr val="E8ED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/>
      <a:tcStyle>
        <a:tcBdr/>
        <a:fill>
          <a:solidFill>
            <a:srgbClr val="EBEEE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/>
      <a:tcStyle>
        <a:tcBdr/>
        <a:fill>
          <a:solidFill>
            <a:srgbClr val="FCFF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8F44A2F1-9E1F-4B54-A3A2-5F16C0AD49E2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4044" autoAdjust="0"/>
  </p:normalViewPr>
  <p:slideViewPr>
    <p:cSldViewPr snapToGrid="0" snapToObjects="1">
      <p:cViewPr varScale="1">
        <p:scale>
          <a:sx n="63" d="100"/>
          <a:sy n="63" d="100"/>
        </p:scale>
        <p:origin x="202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нжелика Шерешкова" userId="51506499b8979dec" providerId="LiveId" clId="{0AB2415D-CDEE-495A-A18B-4D214A505358}"/>
    <pc:docChg chg="modSld">
      <pc:chgData name="Анжелика Шерешкова" userId="51506499b8979dec" providerId="LiveId" clId="{0AB2415D-CDEE-495A-A18B-4D214A505358}" dt="2026-10-25T10:16:17.597" v="487" actId="20577"/>
      <pc:docMkLst>
        <pc:docMk/>
      </pc:docMkLst>
      <pc:sldChg chg="modNotesTx">
        <pc:chgData name="Анжелика Шерешкова" userId="51506499b8979dec" providerId="LiveId" clId="{0AB2415D-CDEE-495A-A18B-4D214A505358}" dt="2026-10-25T10:08:22.392" v="64" actId="20577"/>
        <pc:sldMkLst>
          <pc:docMk/>
          <pc:sldMk cId="648782672" sldId="256"/>
        </pc:sldMkLst>
      </pc:sldChg>
      <pc:sldChg chg="modNotesTx">
        <pc:chgData name="Анжелика Шерешкова" userId="51506499b8979dec" providerId="LiveId" clId="{0AB2415D-CDEE-495A-A18B-4D214A505358}" dt="2026-10-25T10:11:02.834" v="308" actId="20577"/>
        <pc:sldMkLst>
          <pc:docMk/>
          <pc:sldMk cId="1560577111" sldId="257"/>
        </pc:sldMkLst>
      </pc:sldChg>
      <pc:sldChg chg="modNotesTx">
        <pc:chgData name="Анжелика Шерешкова" userId="51506499b8979dec" providerId="LiveId" clId="{0AB2415D-CDEE-495A-A18B-4D214A505358}" dt="2026-10-25T10:12:43.433" v="367" actId="20577"/>
        <pc:sldMkLst>
          <pc:docMk/>
          <pc:sldMk cId="1187489893" sldId="258"/>
        </pc:sldMkLst>
      </pc:sldChg>
      <pc:sldChg chg="modNotesTx">
        <pc:chgData name="Анжелика Шерешкова" userId="51506499b8979dec" providerId="LiveId" clId="{0AB2415D-CDEE-495A-A18B-4D214A505358}" dt="2026-10-25T10:16:17.597" v="487" actId="20577"/>
        <pc:sldMkLst>
          <pc:docMk/>
          <pc:sldMk cId="598403165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19272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ВЫСТУПАЮЩИЙ </a:t>
            </a:r>
            <a:r>
              <a:rPr lang="ru-RU" dirty="0" smtClean="0"/>
              <a:t>Анжелика</a:t>
            </a:r>
            <a:r>
              <a:rPr dirty="0" smtClean="0"/>
              <a:t> </a:t>
            </a:r>
            <a:r>
              <a:rPr dirty="0"/>
              <a:t>· СЛАЙД 1</a:t>
            </a:r>
          </a:p>
          <a:p>
            <a:endParaRPr dirty="0"/>
          </a:p>
          <a:p>
            <a:r>
              <a:rPr dirty="0" err="1"/>
              <a:t>Здравствуйте</a:t>
            </a:r>
            <a:r>
              <a:rPr dirty="0"/>
              <a:t>! </a:t>
            </a:r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команда</a:t>
            </a:r>
            <a:r>
              <a:rPr dirty="0"/>
              <a:t> </a:t>
            </a:r>
            <a:r>
              <a:rPr lang="ru-RU" dirty="0"/>
              <a:t>№2. </a:t>
            </a:r>
            <a:r>
              <a:rPr dirty="0" err="1"/>
              <a:t>Наш</a:t>
            </a:r>
            <a:r>
              <a:rPr dirty="0"/>
              <a:t> </a:t>
            </a:r>
            <a:r>
              <a:rPr dirty="0" err="1"/>
              <a:t>проект</a:t>
            </a:r>
            <a:r>
              <a:rPr dirty="0"/>
              <a:t> — </a:t>
            </a:r>
            <a:r>
              <a:rPr dirty="0" err="1"/>
              <a:t>музыкальный</a:t>
            </a:r>
            <a:r>
              <a:rPr dirty="0"/>
              <a:t> </a:t>
            </a:r>
            <a:r>
              <a:rPr dirty="0" err="1"/>
              <a:t>плеер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FPGA-</a:t>
            </a:r>
            <a:r>
              <a:rPr dirty="0" err="1"/>
              <a:t>плате</a:t>
            </a:r>
            <a:r>
              <a:rPr dirty="0"/>
              <a:t>. </a:t>
            </a: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воспроизводит</a:t>
            </a:r>
            <a:r>
              <a:rPr dirty="0"/>
              <a:t> </a:t>
            </a:r>
            <a:r>
              <a:rPr dirty="0" err="1"/>
              <a:t>музыку</a:t>
            </a:r>
            <a:r>
              <a:rPr dirty="0"/>
              <a:t> с </a:t>
            </a:r>
            <a:r>
              <a:rPr dirty="0" err="1"/>
              <a:t>карты</a:t>
            </a:r>
            <a:r>
              <a:rPr dirty="0"/>
              <a:t> microSD, </a:t>
            </a:r>
            <a:r>
              <a:rPr dirty="0" err="1"/>
              <a:t>выводит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монитор</a:t>
            </a:r>
            <a:r>
              <a:rPr dirty="0"/>
              <a:t> и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управлять</a:t>
            </a:r>
            <a:r>
              <a:rPr dirty="0"/>
              <a:t> </a:t>
            </a:r>
            <a:r>
              <a:rPr dirty="0" err="1"/>
              <a:t>воспроизведением</a:t>
            </a:r>
            <a:r>
              <a:rPr dirty="0"/>
              <a:t> с </a:t>
            </a:r>
            <a:r>
              <a:rPr dirty="0" err="1"/>
              <a:t>клавиатуры</a:t>
            </a:r>
            <a:r>
              <a:rPr lang="ru-RU" dirty="0"/>
              <a:t>, а также реализован дополнительный функционал на плате.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695001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ВЫСТУПАЮЩИЙ </a:t>
            </a:r>
            <a:r>
              <a:rPr lang="ru-RU" dirty="0" smtClean="0"/>
              <a:t>Анжелика </a:t>
            </a:r>
            <a:r>
              <a:rPr dirty="0" smtClean="0"/>
              <a:t> </a:t>
            </a:r>
            <a:r>
              <a:rPr dirty="0"/>
              <a:t>· СЛАЙД 2</a:t>
            </a:r>
          </a:p>
          <a:p>
            <a:endParaRPr dirty="0"/>
          </a:p>
          <a:p>
            <a:r>
              <a:rPr dirty="0"/>
              <a:t>В </a:t>
            </a:r>
            <a:r>
              <a:rPr dirty="0" err="1"/>
              <a:t>проекте</a:t>
            </a:r>
            <a:r>
              <a:rPr dirty="0"/>
              <a:t> </a:t>
            </a:r>
            <a:r>
              <a:rPr dirty="0" err="1"/>
              <a:t>объединены</a:t>
            </a:r>
            <a:r>
              <a:rPr dirty="0"/>
              <a:t> </a:t>
            </a:r>
            <a:r>
              <a:rPr dirty="0" err="1"/>
              <a:t>цифровой</a:t>
            </a:r>
            <a:r>
              <a:rPr dirty="0"/>
              <a:t> </a:t>
            </a:r>
            <a:r>
              <a:rPr dirty="0" err="1"/>
              <a:t>звук</a:t>
            </a:r>
            <a:r>
              <a:rPr dirty="0"/>
              <a:t>, VGA-</a:t>
            </a:r>
            <a:r>
              <a:rPr dirty="0" err="1"/>
              <a:t>экран</a:t>
            </a:r>
            <a:r>
              <a:rPr dirty="0"/>
              <a:t> и </a:t>
            </a:r>
            <a:r>
              <a:rPr dirty="0" err="1"/>
              <a:t>периферия</a:t>
            </a:r>
            <a:r>
              <a:rPr dirty="0"/>
              <a:t> </a:t>
            </a:r>
            <a:r>
              <a:rPr dirty="0" err="1"/>
              <a:t>платы</a:t>
            </a:r>
            <a:r>
              <a:rPr dirty="0"/>
              <a:t>. </a:t>
            </a:r>
            <a:r>
              <a:rPr dirty="0" err="1"/>
              <a:t>На</a:t>
            </a:r>
            <a:r>
              <a:rPr dirty="0"/>
              <a:t> microSD </a:t>
            </a:r>
            <a:r>
              <a:rPr dirty="0" err="1"/>
              <a:t>записаны</a:t>
            </a:r>
            <a:r>
              <a:rPr dirty="0"/>
              <a:t> </a:t>
            </a:r>
            <a:r>
              <a:rPr dirty="0" err="1"/>
              <a:t>три</a:t>
            </a:r>
            <a:r>
              <a:rPr dirty="0"/>
              <a:t> </a:t>
            </a:r>
            <a:r>
              <a:rPr dirty="0" err="1"/>
              <a:t>музыкальных</a:t>
            </a:r>
            <a:r>
              <a:rPr dirty="0"/>
              <a:t> WAV-</a:t>
            </a:r>
            <a:r>
              <a:rPr dirty="0" err="1"/>
              <a:t>файла</a:t>
            </a:r>
            <a:r>
              <a:rPr dirty="0"/>
              <a:t>. </a:t>
            </a:r>
            <a:r>
              <a:rPr dirty="0" err="1"/>
              <a:t>Плеер</a:t>
            </a:r>
            <a:r>
              <a:rPr dirty="0"/>
              <a:t> </a:t>
            </a:r>
            <a:r>
              <a:rPr dirty="0" err="1"/>
              <a:t>считывает</a:t>
            </a:r>
            <a:r>
              <a:rPr dirty="0"/>
              <a:t> </a:t>
            </a:r>
            <a:r>
              <a:rPr dirty="0" err="1"/>
              <a:t>выбранную</a:t>
            </a:r>
            <a:r>
              <a:rPr dirty="0"/>
              <a:t> </a:t>
            </a:r>
            <a:r>
              <a:rPr dirty="0" err="1"/>
              <a:t>композицию</a:t>
            </a:r>
            <a:r>
              <a:rPr dirty="0"/>
              <a:t>,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её</a:t>
            </a:r>
            <a:r>
              <a:rPr dirty="0"/>
              <a:t> </a:t>
            </a:r>
            <a:r>
              <a:rPr dirty="0" err="1"/>
              <a:t>обложку</a:t>
            </a:r>
            <a:r>
              <a:rPr dirty="0"/>
              <a:t> и </a:t>
            </a:r>
            <a:r>
              <a:rPr dirty="0" err="1"/>
              <a:t>текущее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, а </a:t>
            </a:r>
            <a:r>
              <a:rPr dirty="0" err="1"/>
              <a:t>время</a:t>
            </a:r>
            <a:r>
              <a:rPr dirty="0"/>
              <a:t> </a:t>
            </a:r>
            <a:r>
              <a:rPr dirty="0" err="1"/>
              <a:t>отображает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экране</a:t>
            </a:r>
            <a:r>
              <a:rPr dirty="0"/>
              <a:t> и </a:t>
            </a:r>
            <a:r>
              <a:rPr dirty="0" err="1"/>
              <a:t>семисегментном</a:t>
            </a:r>
            <a:r>
              <a:rPr dirty="0"/>
              <a:t> </a:t>
            </a:r>
            <a:r>
              <a:rPr dirty="0" err="1"/>
              <a:t>индикаторе</a:t>
            </a:r>
            <a:r>
              <a:rPr dirty="0"/>
              <a:t>.</a:t>
            </a:r>
            <a:r>
              <a:rPr lang="ru-RU" dirty="0"/>
              <a:t> Реализовано с помощью акселерометра режим сна с выводом картинки на экран. Громкость трека отображается на светодиодах и изменяется в зависимости от изменения звука.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22711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ВЫСТУПАЮЩИЙ </a:t>
            </a:r>
            <a:r>
              <a:rPr lang="ru-RU" dirty="0" smtClean="0"/>
              <a:t>Амир</a:t>
            </a:r>
            <a:r>
              <a:rPr dirty="0" smtClean="0"/>
              <a:t> </a:t>
            </a:r>
            <a:r>
              <a:rPr dirty="0"/>
              <a:t>· СЛАЙД 3</a:t>
            </a:r>
          </a:p>
          <a:p>
            <a:endParaRPr dirty="0"/>
          </a:p>
          <a:p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карты</a:t>
            </a:r>
            <a:r>
              <a:rPr dirty="0"/>
              <a:t> </a:t>
            </a:r>
            <a:r>
              <a:rPr dirty="0" err="1"/>
              <a:t>требуется</a:t>
            </a:r>
            <a:r>
              <a:rPr dirty="0"/>
              <a:t> </a:t>
            </a:r>
            <a:r>
              <a:rPr dirty="0" err="1"/>
              <a:t>файловая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FAT32. </a:t>
            </a:r>
            <a:r>
              <a:rPr dirty="0" err="1"/>
              <a:t>Плеер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с WAV PCM: 8 </a:t>
            </a:r>
            <a:r>
              <a:rPr dirty="0" err="1"/>
              <a:t>бит</a:t>
            </a:r>
            <a:r>
              <a:rPr dirty="0"/>
              <a:t>, </a:t>
            </a:r>
            <a:r>
              <a:rPr dirty="0" err="1"/>
              <a:t>моно</a:t>
            </a:r>
            <a:r>
              <a:rPr dirty="0"/>
              <a:t>, 48 </a:t>
            </a:r>
            <a:r>
              <a:rPr dirty="0" err="1"/>
              <a:t>килогерц</a:t>
            </a:r>
            <a:r>
              <a:rPr dirty="0"/>
              <a:t>. </a:t>
            </a:r>
            <a:r>
              <a:rPr dirty="0" err="1"/>
              <a:t>Контроллер</a:t>
            </a:r>
            <a:r>
              <a:rPr dirty="0"/>
              <a:t> </a:t>
            </a:r>
            <a:r>
              <a:rPr dirty="0" err="1"/>
              <a:t>читает</a:t>
            </a:r>
            <a:r>
              <a:rPr dirty="0"/>
              <a:t> </a:t>
            </a:r>
            <a:r>
              <a:rPr dirty="0" err="1"/>
              <a:t>карту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SPI </a:t>
            </a:r>
            <a:r>
              <a:rPr dirty="0" err="1"/>
              <a:t>секторами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512 </a:t>
            </a:r>
            <a:r>
              <a:rPr dirty="0" err="1"/>
              <a:t>байт</a:t>
            </a:r>
            <a:r>
              <a:rPr dirty="0"/>
              <a:t>. FAT32/WAV-</a:t>
            </a:r>
            <a:r>
              <a:rPr dirty="0" err="1"/>
              <a:t>плеер</a:t>
            </a:r>
            <a:r>
              <a:rPr dirty="0"/>
              <a:t> </a:t>
            </a:r>
            <a:r>
              <a:rPr dirty="0" err="1"/>
              <a:t>находит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, </a:t>
            </a:r>
            <a:r>
              <a:rPr dirty="0" err="1"/>
              <a:t>разбирает</a:t>
            </a:r>
            <a:r>
              <a:rPr dirty="0"/>
              <a:t> </a:t>
            </a:r>
            <a:r>
              <a:rPr dirty="0" err="1"/>
              <a:t>заголовок</a:t>
            </a:r>
            <a:r>
              <a:rPr dirty="0"/>
              <a:t> WAV и </a:t>
            </a:r>
            <a:r>
              <a:rPr dirty="0" err="1"/>
              <a:t>передаёт</a:t>
            </a:r>
            <a:r>
              <a:rPr dirty="0"/>
              <a:t> </a:t>
            </a:r>
            <a:r>
              <a:rPr dirty="0" err="1"/>
              <a:t>сэмплы</a:t>
            </a:r>
            <a:r>
              <a:rPr dirty="0"/>
              <a:t> в FIFO. </a:t>
            </a:r>
            <a:r>
              <a:rPr dirty="0" err="1"/>
              <a:t>Так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блоками</a:t>
            </a:r>
            <a:r>
              <a:rPr dirty="0"/>
              <a:t>, а </a:t>
            </a:r>
            <a:r>
              <a:rPr dirty="0" err="1"/>
              <a:t>воспроизводить</a:t>
            </a:r>
            <a:r>
              <a:rPr dirty="0"/>
              <a:t> </a:t>
            </a:r>
            <a:r>
              <a:rPr dirty="0" err="1"/>
              <a:t>равномерно</a:t>
            </a:r>
            <a:r>
              <a:rPr dirty="0"/>
              <a:t> — </a:t>
            </a:r>
            <a:r>
              <a:rPr dirty="0" err="1"/>
              <a:t>по</a:t>
            </a:r>
            <a:r>
              <a:rPr dirty="0"/>
              <a:t> 48 </a:t>
            </a:r>
            <a:r>
              <a:rPr dirty="0" err="1"/>
              <a:t>тысяч</a:t>
            </a:r>
            <a:r>
              <a:rPr dirty="0"/>
              <a:t> </a:t>
            </a:r>
            <a:r>
              <a:rPr dirty="0" err="1"/>
              <a:t>сэмплов</a:t>
            </a:r>
            <a:r>
              <a:rPr dirty="0"/>
              <a:t> в </a:t>
            </a:r>
            <a:r>
              <a:rPr dirty="0" err="1"/>
              <a:t>секунду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Каждый</a:t>
            </a:r>
            <a:r>
              <a:rPr dirty="0"/>
              <a:t> </a:t>
            </a:r>
            <a:r>
              <a:rPr dirty="0" err="1"/>
              <a:t>сэмпл</a:t>
            </a:r>
            <a:r>
              <a:rPr dirty="0"/>
              <a:t> </a:t>
            </a:r>
            <a:r>
              <a:rPr dirty="0" err="1"/>
              <a:t>задаёт</a:t>
            </a:r>
            <a:r>
              <a:rPr dirty="0"/>
              <a:t> </a:t>
            </a:r>
            <a:r>
              <a:rPr dirty="0" err="1"/>
              <a:t>ширину</a:t>
            </a:r>
            <a:r>
              <a:rPr dirty="0"/>
              <a:t> </a:t>
            </a:r>
            <a:r>
              <a:rPr dirty="0" err="1"/>
              <a:t>импульсов</a:t>
            </a:r>
            <a:r>
              <a:rPr dirty="0"/>
              <a:t> ШИМ.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плате</a:t>
            </a:r>
            <a:r>
              <a:rPr dirty="0"/>
              <a:t> </a:t>
            </a:r>
            <a:r>
              <a:rPr dirty="0" err="1"/>
              <a:t>сигнал</a:t>
            </a:r>
            <a:r>
              <a:rPr dirty="0"/>
              <a:t> </a:t>
            </a:r>
            <a:r>
              <a:rPr dirty="0" err="1"/>
              <a:t>проходит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аналоговый</a:t>
            </a:r>
            <a:r>
              <a:rPr dirty="0"/>
              <a:t> </a:t>
            </a:r>
            <a:r>
              <a:rPr dirty="0" err="1"/>
              <a:t>фильтр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сглаживает</a:t>
            </a:r>
            <a:r>
              <a:rPr dirty="0"/>
              <a:t> </a:t>
            </a:r>
            <a:r>
              <a:rPr dirty="0" err="1"/>
              <a:t>импульсы</a:t>
            </a:r>
            <a:r>
              <a:rPr dirty="0"/>
              <a:t> и </a:t>
            </a:r>
            <a:r>
              <a:rPr dirty="0" err="1"/>
              <a:t>формирует</a:t>
            </a:r>
            <a:r>
              <a:rPr dirty="0"/>
              <a:t> </a:t>
            </a:r>
            <a:r>
              <a:rPr dirty="0" err="1"/>
              <a:t>звук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аудиоразъёма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чтения</a:t>
            </a:r>
            <a:r>
              <a:rPr dirty="0"/>
              <a:t> SPI-</a:t>
            </a:r>
            <a:r>
              <a:rPr dirty="0" err="1"/>
              <a:t>секторов</a:t>
            </a:r>
            <a:r>
              <a:rPr dirty="0"/>
              <a:t> </a:t>
            </a:r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адаптировали</a:t>
            </a:r>
            <a:r>
              <a:rPr dirty="0"/>
              <a:t> </a:t>
            </a:r>
            <a:r>
              <a:rPr dirty="0" err="1"/>
              <a:t>открытый</a:t>
            </a:r>
            <a:r>
              <a:rPr dirty="0"/>
              <a:t> </a:t>
            </a:r>
            <a:r>
              <a:rPr dirty="0" err="1"/>
              <a:t>проект</a:t>
            </a:r>
            <a:r>
              <a:rPr dirty="0"/>
              <a:t> WangXuan95 FPGA-</a:t>
            </a:r>
            <a:r>
              <a:rPr dirty="0" err="1"/>
              <a:t>SDcard</a:t>
            </a:r>
            <a:r>
              <a:rPr dirty="0"/>
              <a:t>-Reader-SPI. </a:t>
            </a:r>
            <a:r>
              <a:rPr lang="ru-RU" dirty="0"/>
              <a:t>При реализации использовали </a:t>
            </a:r>
            <a:r>
              <a:rPr dirty="0"/>
              <a:t>ИИ </a:t>
            </a:r>
            <a:r>
              <a:rPr lang="ru-RU" dirty="0"/>
              <a:t>для</a:t>
            </a:r>
            <a:r>
              <a:rPr dirty="0"/>
              <a:t> </a:t>
            </a:r>
            <a:r>
              <a:rPr dirty="0" err="1"/>
              <a:t>разработк</a:t>
            </a:r>
            <a:r>
              <a:rPr lang="ru-RU" dirty="0"/>
              <a:t>и</a:t>
            </a:r>
            <a:r>
              <a:rPr dirty="0"/>
              <a:t> </a:t>
            </a:r>
            <a:r>
              <a:rPr dirty="0" err="1"/>
              <a:t>отдельных</a:t>
            </a:r>
            <a:r>
              <a:rPr dirty="0"/>
              <a:t> </a:t>
            </a:r>
            <a:r>
              <a:rPr dirty="0" err="1"/>
              <a:t>частей</a:t>
            </a:r>
            <a:r>
              <a:rPr dirty="0"/>
              <a:t> </a:t>
            </a:r>
            <a:r>
              <a:rPr dirty="0" err="1"/>
              <a:t>проекта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847122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ВЫСТУПАЮЩИЙ </a:t>
            </a:r>
            <a:r>
              <a:rPr lang="ru-RU" dirty="0" smtClean="0"/>
              <a:t>Андрей</a:t>
            </a:r>
            <a:r>
              <a:rPr dirty="0" smtClean="0"/>
              <a:t> </a:t>
            </a:r>
            <a:r>
              <a:rPr dirty="0"/>
              <a:t>· СЛАЙД 4</a:t>
            </a:r>
          </a:p>
          <a:p>
            <a:endParaRPr dirty="0"/>
          </a:p>
          <a:p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вывода</a:t>
            </a:r>
            <a:r>
              <a:rPr dirty="0"/>
              <a:t> </a:t>
            </a:r>
            <a:r>
              <a:rPr dirty="0" err="1"/>
              <a:t>изображения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VGA с </a:t>
            </a:r>
            <a:r>
              <a:rPr dirty="0" err="1"/>
              <a:t>разрешением</a:t>
            </a:r>
            <a:r>
              <a:rPr dirty="0"/>
              <a:t> 800 </a:t>
            </a:r>
            <a:r>
              <a:rPr dirty="0" err="1"/>
              <a:t>на</a:t>
            </a:r>
            <a:r>
              <a:rPr dirty="0"/>
              <a:t> 600 </a:t>
            </a:r>
            <a:r>
              <a:rPr dirty="0" err="1"/>
              <a:t>пикселей</a:t>
            </a:r>
            <a:r>
              <a:rPr dirty="0"/>
              <a:t>. Clocking Wizard </a:t>
            </a:r>
            <a:r>
              <a:rPr dirty="0" err="1"/>
              <a:t>формирует</a:t>
            </a:r>
            <a:r>
              <a:rPr dirty="0"/>
              <a:t> </a:t>
            </a:r>
            <a:r>
              <a:rPr dirty="0" err="1"/>
              <a:t>видеотакт</a:t>
            </a:r>
            <a:r>
              <a:rPr dirty="0"/>
              <a:t> </a:t>
            </a:r>
            <a:r>
              <a:rPr dirty="0" err="1"/>
              <a:t>около</a:t>
            </a:r>
            <a:r>
              <a:rPr dirty="0"/>
              <a:t> 40 </a:t>
            </a:r>
            <a:r>
              <a:rPr dirty="0" err="1"/>
              <a:t>мегагерц</a:t>
            </a:r>
            <a:r>
              <a:rPr dirty="0"/>
              <a:t>, а </a:t>
            </a:r>
            <a:r>
              <a:rPr dirty="0" err="1"/>
              <a:t>блок</a:t>
            </a:r>
            <a:r>
              <a:rPr dirty="0"/>
              <a:t> </a:t>
            </a:r>
            <a:r>
              <a:rPr dirty="0" err="1"/>
              <a:t>таймингов</a:t>
            </a:r>
            <a:r>
              <a:rPr dirty="0"/>
              <a:t> </a:t>
            </a:r>
            <a:r>
              <a:rPr dirty="0" err="1"/>
              <a:t>задаёт</a:t>
            </a:r>
            <a:r>
              <a:rPr dirty="0"/>
              <a:t> </a:t>
            </a:r>
            <a:r>
              <a:rPr dirty="0" err="1"/>
              <a:t>координаты</a:t>
            </a:r>
            <a:r>
              <a:rPr dirty="0"/>
              <a:t> </a:t>
            </a:r>
            <a:r>
              <a:rPr dirty="0" err="1"/>
              <a:t>пикселей</a:t>
            </a:r>
            <a:r>
              <a:rPr dirty="0"/>
              <a:t> и </a:t>
            </a:r>
            <a:r>
              <a:rPr dirty="0" err="1"/>
              <a:t>сигналы</a:t>
            </a:r>
            <a:r>
              <a:rPr dirty="0"/>
              <a:t> </a:t>
            </a:r>
            <a:r>
              <a:rPr dirty="0" err="1"/>
              <a:t>синхронизации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Изображение</a:t>
            </a:r>
            <a:r>
              <a:rPr dirty="0"/>
              <a:t> </a:t>
            </a:r>
            <a:r>
              <a:rPr dirty="0" err="1"/>
              <a:t>строится</a:t>
            </a:r>
            <a:r>
              <a:rPr dirty="0"/>
              <a:t> </a:t>
            </a:r>
            <a:r>
              <a:rPr dirty="0" err="1"/>
              <a:t>прямо</a:t>
            </a:r>
            <a:r>
              <a:rPr dirty="0"/>
              <a:t> в RTL-</a:t>
            </a:r>
            <a:r>
              <a:rPr dirty="0" err="1"/>
              <a:t>логике</a:t>
            </a:r>
            <a:r>
              <a:rPr dirty="0"/>
              <a:t>: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каждого</a:t>
            </a:r>
            <a:r>
              <a:rPr dirty="0"/>
              <a:t> </a:t>
            </a:r>
            <a:r>
              <a:rPr dirty="0" err="1"/>
              <a:t>пикселя</a:t>
            </a:r>
            <a:r>
              <a:rPr dirty="0"/>
              <a:t> </a:t>
            </a:r>
            <a:r>
              <a:rPr dirty="0" err="1"/>
              <a:t>выбирается</a:t>
            </a:r>
            <a:r>
              <a:rPr dirty="0"/>
              <a:t> </a:t>
            </a:r>
            <a:r>
              <a:rPr dirty="0" err="1"/>
              <a:t>цвет</a:t>
            </a:r>
            <a:r>
              <a:rPr dirty="0"/>
              <a:t>. </a:t>
            </a:r>
            <a:r>
              <a:rPr dirty="0" err="1"/>
              <a:t>Обложки</a:t>
            </a:r>
            <a:r>
              <a:rPr dirty="0"/>
              <a:t> </a:t>
            </a:r>
            <a:r>
              <a:rPr dirty="0" err="1"/>
              <a:t>трёх</a:t>
            </a:r>
            <a:r>
              <a:rPr dirty="0"/>
              <a:t> </a:t>
            </a:r>
            <a:r>
              <a:rPr dirty="0" err="1"/>
              <a:t>треков</a:t>
            </a:r>
            <a:r>
              <a:rPr dirty="0"/>
              <a:t> </a:t>
            </a:r>
            <a:r>
              <a:rPr dirty="0" err="1"/>
              <a:t>хранятся</a:t>
            </a:r>
            <a:r>
              <a:rPr dirty="0"/>
              <a:t> </a:t>
            </a:r>
            <a:r>
              <a:rPr dirty="0" err="1"/>
              <a:t>во</a:t>
            </a:r>
            <a:r>
              <a:rPr dirty="0"/>
              <a:t> </a:t>
            </a:r>
            <a:r>
              <a:rPr dirty="0" err="1"/>
              <a:t>внутренней</a:t>
            </a:r>
            <a:r>
              <a:rPr dirty="0"/>
              <a:t> </a:t>
            </a:r>
            <a:r>
              <a:rPr dirty="0" err="1"/>
              <a:t>таблице</a:t>
            </a:r>
            <a:r>
              <a:rPr dirty="0"/>
              <a:t> и </a:t>
            </a:r>
            <a:r>
              <a:rPr dirty="0" err="1"/>
              <a:t>выводятся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экран</a:t>
            </a:r>
            <a:r>
              <a:rPr dirty="0"/>
              <a:t> в </a:t>
            </a:r>
            <a:r>
              <a:rPr dirty="0" err="1"/>
              <a:t>увеличенном</a:t>
            </a:r>
            <a:r>
              <a:rPr dirty="0"/>
              <a:t> </a:t>
            </a:r>
            <a:r>
              <a:rPr dirty="0" err="1"/>
              <a:t>размере</a:t>
            </a:r>
            <a:r>
              <a:rPr dirty="0"/>
              <a:t>. </a:t>
            </a:r>
            <a:r>
              <a:rPr dirty="0" err="1"/>
              <a:t>Интерфейс</a:t>
            </a:r>
            <a:r>
              <a:rPr dirty="0"/>
              <a:t> </a:t>
            </a:r>
            <a:r>
              <a:rPr dirty="0" err="1"/>
              <a:t>также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выбранную</a:t>
            </a:r>
            <a:r>
              <a:rPr dirty="0"/>
              <a:t> </a:t>
            </a:r>
            <a:r>
              <a:rPr dirty="0" err="1"/>
              <a:t>композицию</a:t>
            </a:r>
            <a:r>
              <a:rPr dirty="0"/>
              <a:t>, </a:t>
            </a:r>
            <a:r>
              <a:rPr dirty="0" err="1"/>
              <a:t>прошедшее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, </a:t>
            </a:r>
            <a:r>
              <a:rPr dirty="0" err="1"/>
              <a:t>длительность</a:t>
            </a:r>
            <a:r>
              <a:rPr dirty="0"/>
              <a:t> и </a:t>
            </a:r>
            <a:r>
              <a:rPr dirty="0" err="1"/>
              <a:t>полосу</a:t>
            </a:r>
            <a:r>
              <a:rPr dirty="0"/>
              <a:t> </a:t>
            </a:r>
            <a:r>
              <a:rPr dirty="0" err="1"/>
              <a:t>прогресса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Восемь</a:t>
            </a:r>
            <a:r>
              <a:rPr dirty="0"/>
              <a:t> </a:t>
            </a:r>
            <a:r>
              <a:rPr dirty="0" err="1"/>
              <a:t>цветных</a:t>
            </a:r>
            <a:r>
              <a:rPr dirty="0"/>
              <a:t> </a:t>
            </a:r>
            <a:r>
              <a:rPr dirty="0" err="1"/>
              <a:t>полос</a:t>
            </a:r>
            <a:r>
              <a:rPr dirty="0"/>
              <a:t> </a:t>
            </a:r>
            <a:r>
              <a:rPr dirty="0" err="1"/>
              <a:t>показывают</a:t>
            </a:r>
            <a:r>
              <a:rPr dirty="0"/>
              <a:t> </a:t>
            </a:r>
            <a:r>
              <a:rPr dirty="0" err="1"/>
              <a:t>уровни</a:t>
            </a:r>
            <a:r>
              <a:rPr dirty="0"/>
              <a:t> </a:t>
            </a:r>
            <a:r>
              <a:rPr dirty="0" err="1"/>
              <a:t>разных</a:t>
            </a:r>
            <a:r>
              <a:rPr dirty="0"/>
              <a:t> </a:t>
            </a:r>
            <a:r>
              <a:rPr dirty="0" err="1"/>
              <a:t>частотных</a:t>
            </a:r>
            <a:r>
              <a:rPr dirty="0"/>
              <a:t> </a:t>
            </a:r>
            <a:r>
              <a:rPr dirty="0" err="1"/>
              <a:t>диапазонов</a:t>
            </a:r>
            <a:r>
              <a:rPr dirty="0"/>
              <a:t> </a:t>
            </a:r>
            <a:r>
              <a:rPr dirty="0" err="1"/>
              <a:t>звука</a:t>
            </a:r>
            <a:r>
              <a:rPr dirty="0"/>
              <a:t> и </a:t>
            </a:r>
            <a:r>
              <a:rPr dirty="0" err="1"/>
              <a:t>изменяются</a:t>
            </a:r>
            <a:r>
              <a:rPr dirty="0"/>
              <a:t> </a:t>
            </a:r>
            <a:r>
              <a:rPr dirty="0" err="1"/>
              <a:t>вслед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сигналом</a:t>
            </a:r>
            <a:r>
              <a:rPr dirty="0"/>
              <a:t>. </a:t>
            </a:r>
            <a:r>
              <a:rPr dirty="0" err="1"/>
              <a:t>Время</a:t>
            </a:r>
            <a:r>
              <a:rPr dirty="0"/>
              <a:t> </a:t>
            </a:r>
            <a:r>
              <a:rPr dirty="0" err="1"/>
              <a:t>трека</a:t>
            </a:r>
            <a:r>
              <a:rPr dirty="0"/>
              <a:t> </a:t>
            </a:r>
            <a:r>
              <a:rPr dirty="0" err="1"/>
              <a:t>дополнительно</a:t>
            </a:r>
            <a:r>
              <a:rPr dirty="0"/>
              <a:t> </a:t>
            </a:r>
            <a:r>
              <a:rPr dirty="0" err="1"/>
              <a:t>отображается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семисегментном</a:t>
            </a:r>
            <a:r>
              <a:rPr dirty="0"/>
              <a:t> </a:t>
            </a:r>
            <a:r>
              <a:rPr dirty="0" err="1"/>
              <a:t>индикаторе</a:t>
            </a:r>
            <a:r>
              <a:rPr dirty="0"/>
              <a:t> </a:t>
            </a:r>
            <a:r>
              <a:rPr dirty="0" err="1"/>
              <a:t>платы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40360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ВЫСТУПАЮЩИЙ </a:t>
            </a:r>
            <a:r>
              <a:rPr lang="ru-RU" dirty="0" smtClean="0"/>
              <a:t>Амир</a:t>
            </a:r>
            <a:r>
              <a:rPr dirty="0" smtClean="0"/>
              <a:t> </a:t>
            </a:r>
            <a:r>
              <a:rPr dirty="0"/>
              <a:t>· СЛАЙД 5</a:t>
            </a:r>
          </a:p>
          <a:p>
            <a:endParaRPr dirty="0"/>
          </a:p>
          <a:p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проверили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плате</a:t>
            </a:r>
            <a:r>
              <a:rPr dirty="0"/>
              <a:t> </a:t>
            </a:r>
            <a:r>
              <a:rPr dirty="0" err="1"/>
              <a:t>воспроизведение</a:t>
            </a:r>
            <a:r>
              <a:rPr dirty="0"/>
              <a:t> </a:t>
            </a:r>
            <a:r>
              <a:rPr dirty="0" err="1"/>
              <a:t>трёх</a:t>
            </a:r>
            <a:r>
              <a:rPr dirty="0"/>
              <a:t> </a:t>
            </a:r>
            <a:r>
              <a:rPr dirty="0" err="1"/>
              <a:t>треков</a:t>
            </a:r>
            <a:r>
              <a:rPr dirty="0"/>
              <a:t>, </a:t>
            </a: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клавиатурой</a:t>
            </a:r>
            <a:r>
              <a:rPr dirty="0"/>
              <a:t>, VGA, </a:t>
            </a:r>
            <a:r>
              <a:rPr dirty="0" err="1"/>
              <a:t>таймер</a:t>
            </a:r>
            <a:r>
              <a:rPr dirty="0"/>
              <a:t>, </a:t>
            </a:r>
            <a:r>
              <a:rPr dirty="0" err="1"/>
              <a:t>светодиодную</a:t>
            </a:r>
            <a:r>
              <a:rPr dirty="0"/>
              <a:t> </a:t>
            </a:r>
            <a:r>
              <a:rPr dirty="0" err="1"/>
              <a:t>индикацию</a:t>
            </a:r>
            <a:r>
              <a:rPr dirty="0"/>
              <a:t>, а </a:t>
            </a:r>
            <a:r>
              <a:rPr dirty="0" err="1"/>
              <a:t>также</a:t>
            </a:r>
            <a:r>
              <a:rPr dirty="0"/>
              <a:t> </a:t>
            </a:r>
            <a:r>
              <a:rPr dirty="0" err="1"/>
              <a:t>сон</a:t>
            </a:r>
            <a:r>
              <a:rPr dirty="0"/>
              <a:t> и </a:t>
            </a:r>
            <a:r>
              <a:rPr dirty="0" err="1"/>
              <a:t>пробуждение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выполняется</a:t>
            </a:r>
            <a:r>
              <a:rPr dirty="0"/>
              <a:t> с PS/2-клавиатуры. </a:t>
            </a:r>
            <a:r>
              <a:rPr dirty="0" err="1"/>
              <a:t>Приёмник</a:t>
            </a:r>
            <a:r>
              <a:rPr dirty="0"/>
              <a:t> </a:t>
            </a:r>
            <a:r>
              <a:rPr dirty="0" err="1"/>
              <a:t>считывает</a:t>
            </a:r>
            <a:r>
              <a:rPr dirty="0"/>
              <a:t> </a:t>
            </a:r>
            <a:r>
              <a:rPr dirty="0" err="1"/>
              <a:t>скан-коды</a:t>
            </a:r>
            <a:r>
              <a:rPr dirty="0"/>
              <a:t>, а </a:t>
            </a:r>
            <a:r>
              <a:rPr dirty="0" err="1"/>
              <a:t>контроллер</a:t>
            </a:r>
            <a:r>
              <a:rPr dirty="0"/>
              <a:t> </a:t>
            </a:r>
            <a:r>
              <a:rPr dirty="0" err="1"/>
              <a:t>преобразует</a:t>
            </a:r>
            <a:r>
              <a:rPr dirty="0"/>
              <a:t> </a:t>
            </a:r>
            <a:r>
              <a:rPr dirty="0" err="1"/>
              <a:t>их</a:t>
            </a:r>
            <a:r>
              <a:rPr dirty="0"/>
              <a:t> в </a:t>
            </a:r>
            <a:r>
              <a:rPr dirty="0" err="1"/>
              <a:t>команды</a:t>
            </a:r>
            <a:r>
              <a:rPr dirty="0"/>
              <a:t>: </a:t>
            </a:r>
            <a:r>
              <a:rPr dirty="0" err="1"/>
              <a:t>клавиши</a:t>
            </a:r>
            <a:r>
              <a:rPr dirty="0"/>
              <a:t> 1, 2 и 3 </a:t>
            </a:r>
            <a:r>
              <a:rPr dirty="0" err="1"/>
              <a:t>выбирают</a:t>
            </a:r>
            <a:r>
              <a:rPr dirty="0"/>
              <a:t> </a:t>
            </a:r>
            <a:r>
              <a:rPr dirty="0" err="1"/>
              <a:t>трек</a:t>
            </a:r>
            <a:r>
              <a:rPr dirty="0"/>
              <a:t>, N и B </a:t>
            </a:r>
            <a:r>
              <a:rPr dirty="0" err="1"/>
              <a:t>переключают</a:t>
            </a:r>
            <a:r>
              <a:rPr dirty="0"/>
              <a:t> </a:t>
            </a:r>
            <a:r>
              <a:rPr dirty="0" err="1"/>
              <a:t>композиции</a:t>
            </a:r>
            <a:r>
              <a:rPr dirty="0"/>
              <a:t>, </a:t>
            </a:r>
            <a:r>
              <a:rPr dirty="0" err="1"/>
              <a:t>пробел</a:t>
            </a:r>
            <a:r>
              <a:rPr dirty="0"/>
              <a:t> </a:t>
            </a:r>
            <a:r>
              <a:rPr dirty="0" err="1"/>
              <a:t>запускает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приостанавливает</a:t>
            </a:r>
            <a:r>
              <a:rPr dirty="0"/>
              <a:t> </a:t>
            </a:r>
            <a:r>
              <a:rPr dirty="0" err="1"/>
              <a:t>воспроизведение</a:t>
            </a:r>
            <a:r>
              <a:rPr dirty="0"/>
              <a:t>, S </a:t>
            </a:r>
            <a:r>
              <a:rPr dirty="0" err="1"/>
              <a:t>останавливает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Акселерометр</a:t>
            </a:r>
            <a:r>
              <a:rPr dirty="0"/>
              <a:t> ADXL362 </a:t>
            </a:r>
            <a:r>
              <a:rPr dirty="0" err="1"/>
              <a:t>измеряет</a:t>
            </a:r>
            <a:r>
              <a:rPr dirty="0"/>
              <a:t> </a:t>
            </a:r>
            <a:r>
              <a:rPr dirty="0" err="1"/>
              <a:t>ускорение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трём</a:t>
            </a:r>
            <a:r>
              <a:rPr dirty="0"/>
              <a:t> </a:t>
            </a:r>
            <a:r>
              <a:rPr dirty="0" err="1"/>
              <a:t>осям</a:t>
            </a:r>
            <a:r>
              <a:rPr dirty="0"/>
              <a:t>.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переключател</a:t>
            </a:r>
            <a:r>
              <a:rPr lang="ru-RU" dirty="0"/>
              <a:t>ь</a:t>
            </a:r>
            <a:r>
              <a:rPr dirty="0"/>
              <a:t> SW0</a:t>
            </a:r>
            <a:r>
              <a:rPr lang="ru-RU" dirty="0"/>
              <a:t> включен</a:t>
            </a:r>
            <a:r>
              <a:rPr dirty="0"/>
              <a:t>,  </a:t>
            </a:r>
            <a:r>
              <a:rPr lang="ru-RU" dirty="0"/>
              <a:t>то через заданное время </a:t>
            </a:r>
            <a:r>
              <a:rPr dirty="0" err="1"/>
              <a:t>переходит</a:t>
            </a:r>
            <a:r>
              <a:rPr dirty="0"/>
              <a:t> в </a:t>
            </a:r>
            <a:r>
              <a:rPr dirty="0" err="1"/>
              <a:t>сон</a:t>
            </a:r>
            <a:r>
              <a:rPr dirty="0"/>
              <a:t>. </a:t>
            </a:r>
            <a:r>
              <a:rPr dirty="0" err="1"/>
              <a:t>Нажатие</a:t>
            </a:r>
            <a:r>
              <a:rPr dirty="0"/>
              <a:t> </a:t>
            </a:r>
            <a:r>
              <a:rPr dirty="0" err="1"/>
              <a:t>клавиши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движение</a:t>
            </a:r>
            <a:r>
              <a:rPr dirty="0"/>
              <a:t> </a:t>
            </a:r>
            <a:r>
              <a:rPr dirty="0" err="1"/>
              <a:t>платы</a:t>
            </a:r>
            <a:r>
              <a:rPr dirty="0"/>
              <a:t> </a:t>
            </a:r>
            <a:r>
              <a:rPr dirty="0" err="1"/>
              <a:t>сбрасывает</a:t>
            </a:r>
            <a:r>
              <a:rPr dirty="0"/>
              <a:t> </a:t>
            </a:r>
            <a:r>
              <a:rPr dirty="0" err="1"/>
              <a:t>таймер</a:t>
            </a:r>
            <a:r>
              <a:rPr dirty="0"/>
              <a:t> </a:t>
            </a:r>
            <a:r>
              <a:rPr dirty="0" err="1"/>
              <a:t>бездействия</a:t>
            </a:r>
            <a:r>
              <a:rPr dirty="0"/>
              <a:t> и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выйти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сна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Светодиоды</a:t>
            </a:r>
            <a:r>
              <a:rPr dirty="0"/>
              <a:t> </a:t>
            </a:r>
            <a:r>
              <a:rPr dirty="0" err="1"/>
              <a:t>показывают</a:t>
            </a:r>
            <a:r>
              <a:rPr dirty="0"/>
              <a:t> </a:t>
            </a:r>
            <a:r>
              <a:rPr dirty="0" err="1"/>
              <a:t>уровень</a:t>
            </a:r>
            <a:r>
              <a:rPr dirty="0"/>
              <a:t> </a:t>
            </a:r>
            <a:r>
              <a:rPr dirty="0" err="1"/>
              <a:t>звука</a:t>
            </a:r>
            <a:r>
              <a:rPr dirty="0"/>
              <a:t>. </a:t>
            </a:r>
            <a:r>
              <a:rPr dirty="0" err="1"/>
              <a:t>Шестнадцать</a:t>
            </a:r>
            <a:r>
              <a:rPr dirty="0"/>
              <a:t> </a:t>
            </a:r>
            <a:r>
              <a:rPr dirty="0" err="1"/>
              <a:t>обычных</a:t>
            </a:r>
            <a:r>
              <a:rPr dirty="0"/>
              <a:t> </a:t>
            </a:r>
            <a:r>
              <a:rPr dirty="0" err="1"/>
              <a:t>светодиодов</a:t>
            </a:r>
            <a:r>
              <a:rPr dirty="0"/>
              <a:t> </a:t>
            </a:r>
            <a:r>
              <a:rPr dirty="0" err="1"/>
              <a:t>образуют</a:t>
            </a:r>
            <a:r>
              <a:rPr dirty="0"/>
              <a:t> </a:t>
            </a:r>
            <a:r>
              <a:rPr dirty="0" err="1"/>
              <a:t>индикатор</a:t>
            </a:r>
            <a:r>
              <a:rPr dirty="0"/>
              <a:t> </a:t>
            </a:r>
            <a:r>
              <a:rPr dirty="0" err="1"/>
              <a:t>уровня</a:t>
            </a:r>
            <a:r>
              <a:rPr dirty="0"/>
              <a:t>. </a:t>
            </a:r>
            <a:r>
              <a:rPr dirty="0" err="1"/>
              <a:t>Цвет</a:t>
            </a:r>
            <a:r>
              <a:rPr dirty="0"/>
              <a:t> RGB-</a:t>
            </a:r>
            <a:r>
              <a:rPr dirty="0" err="1"/>
              <a:t>светодиода</a:t>
            </a:r>
            <a:r>
              <a:rPr dirty="0"/>
              <a:t> </a:t>
            </a:r>
            <a:r>
              <a:rPr dirty="0" err="1"/>
              <a:t>меняется</a:t>
            </a:r>
            <a:r>
              <a:rPr dirty="0"/>
              <a:t> </a:t>
            </a:r>
            <a:r>
              <a:rPr dirty="0" err="1"/>
              <a:t>вместе</a:t>
            </a:r>
            <a:r>
              <a:rPr dirty="0"/>
              <a:t> с </a:t>
            </a:r>
            <a:r>
              <a:rPr dirty="0" err="1"/>
              <a:t>уровнем</a:t>
            </a:r>
            <a:r>
              <a:rPr dirty="0"/>
              <a:t>, а </a:t>
            </a:r>
            <a:r>
              <a:rPr dirty="0" err="1"/>
              <a:t>второй</a:t>
            </a:r>
            <a:r>
              <a:rPr dirty="0"/>
              <a:t> RGB-</a:t>
            </a:r>
            <a:r>
              <a:rPr dirty="0" err="1"/>
              <a:t>светодиод</a:t>
            </a:r>
            <a:r>
              <a:rPr dirty="0"/>
              <a:t> </a:t>
            </a:r>
            <a:r>
              <a:rPr dirty="0" err="1"/>
              <a:t>вспыхивает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резком</a:t>
            </a:r>
            <a:r>
              <a:rPr dirty="0"/>
              <a:t> </a:t>
            </a:r>
            <a:r>
              <a:rPr dirty="0" err="1"/>
              <a:t>увеличении</a:t>
            </a:r>
            <a:r>
              <a:rPr dirty="0"/>
              <a:t> </a:t>
            </a:r>
            <a:r>
              <a:rPr dirty="0" err="1"/>
              <a:t>сигнала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слайде</a:t>
            </a:r>
            <a:r>
              <a:rPr dirty="0"/>
              <a:t> </a:t>
            </a:r>
            <a:r>
              <a:rPr dirty="0" err="1"/>
              <a:t>показаны</a:t>
            </a:r>
            <a:r>
              <a:rPr dirty="0"/>
              <a:t> </a:t>
            </a:r>
            <a:r>
              <a:rPr dirty="0" err="1"/>
              <a:t>ресурсы</a:t>
            </a:r>
            <a:r>
              <a:rPr dirty="0"/>
              <a:t> FPGA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размещения</a:t>
            </a:r>
            <a:r>
              <a:rPr dirty="0"/>
              <a:t> в </a:t>
            </a:r>
            <a:r>
              <a:rPr dirty="0" err="1"/>
              <a:t>Vivado</a:t>
            </a:r>
            <a:r>
              <a:rPr dirty="0"/>
              <a:t>: LUT — </a:t>
            </a:r>
            <a:r>
              <a:rPr dirty="0" err="1"/>
              <a:t>около</a:t>
            </a:r>
            <a:r>
              <a:rPr dirty="0"/>
              <a:t> 12 </a:t>
            </a:r>
            <a:r>
              <a:rPr dirty="0" err="1"/>
              <a:t>процентов</a:t>
            </a:r>
            <a:r>
              <a:rPr dirty="0"/>
              <a:t>, </a:t>
            </a:r>
            <a:r>
              <a:rPr dirty="0" err="1"/>
              <a:t>регистры</a:t>
            </a:r>
            <a:r>
              <a:rPr dirty="0"/>
              <a:t> — </a:t>
            </a:r>
            <a:r>
              <a:rPr dirty="0" err="1"/>
              <a:t>около</a:t>
            </a:r>
            <a:r>
              <a:rPr dirty="0"/>
              <a:t> 1,7 </a:t>
            </a:r>
            <a:r>
              <a:rPr dirty="0" err="1"/>
              <a:t>процента</a:t>
            </a:r>
            <a:r>
              <a:rPr dirty="0"/>
              <a:t>, </a:t>
            </a:r>
            <a:r>
              <a:rPr dirty="0" err="1"/>
              <a:t>блочная</a:t>
            </a:r>
            <a:r>
              <a:rPr dirty="0"/>
              <a:t> </a:t>
            </a:r>
            <a:r>
              <a:rPr dirty="0" err="1"/>
              <a:t>память</a:t>
            </a:r>
            <a:r>
              <a:rPr dirty="0"/>
              <a:t> — 36 </a:t>
            </a:r>
            <a:r>
              <a:rPr dirty="0" err="1"/>
              <a:t>процентов</a:t>
            </a:r>
            <a:r>
              <a:rPr dirty="0"/>
              <a:t>, DSP-</a:t>
            </a:r>
            <a:r>
              <a:rPr dirty="0" err="1"/>
              <a:t>блоки</a:t>
            </a:r>
            <a:r>
              <a:rPr dirty="0"/>
              <a:t> — 5 </a:t>
            </a:r>
            <a:r>
              <a:rPr dirty="0" err="1"/>
              <a:t>процентов</a:t>
            </a:r>
            <a:r>
              <a:rPr dirty="0"/>
              <a:t>. BRAM </a:t>
            </a:r>
            <a:r>
              <a:rPr dirty="0" err="1"/>
              <a:t>используется</a:t>
            </a:r>
            <a:r>
              <a:rPr dirty="0"/>
              <a:t>, в </a:t>
            </a:r>
            <a:r>
              <a:rPr dirty="0" err="1"/>
              <a:t>частности</a:t>
            </a:r>
            <a:r>
              <a:rPr dirty="0"/>
              <a:t>,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обложек</a:t>
            </a:r>
            <a:r>
              <a:rPr dirty="0"/>
              <a:t> и </a:t>
            </a:r>
            <a:r>
              <a:rPr dirty="0" err="1"/>
              <a:t>буферизации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71893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ВЫСТУПАЮЩИЙ </a:t>
            </a:r>
            <a:r>
              <a:rPr lang="ru-RU" dirty="0" smtClean="0"/>
              <a:t>Андрей</a:t>
            </a:r>
            <a:r>
              <a:rPr dirty="0" smtClean="0"/>
              <a:t> </a:t>
            </a:r>
            <a:r>
              <a:rPr dirty="0"/>
              <a:t>· СЛАЙД 6</a:t>
            </a:r>
          </a:p>
          <a:p>
            <a:endParaRPr dirty="0"/>
          </a:p>
          <a:p>
            <a:r>
              <a:rPr dirty="0" err="1"/>
              <a:t>Верхний</a:t>
            </a:r>
            <a:r>
              <a:rPr dirty="0"/>
              <a:t> </a:t>
            </a:r>
            <a:r>
              <a:rPr dirty="0" err="1"/>
              <a:t>модуль</a:t>
            </a:r>
            <a:r>
              <a:rPr dirty="0"/>
              <a:t> </a:t>
            </a:r>
            <a:r>
              <a:rPr dirty="0" err="1"/>
              <a:t>player_top</a:t>
            </a:r>
            <a:r>
              <a:rPr dirty="0"/>
              <a:t> </a:t>
            </a:r>
            <a:r>
              <a:rPr dirty="0" err="1"/>
              <a:t>соединяет</a:t>
            </a:r>
            <a:r>
              <a:rPr dirty="0"/>
              <a:t> </a:t>
            </a:r>
            <a:r>
              <a:rPr dirty="0" err="1"/>
              <a:t>основные</a:t>
            </a:r>
            <a:r>
              <a:rPr dirty="0"/>
              <a:t> </a:t>
            </a:r>
            <a:r>
              <a:rPr dirty="0" err="1"/>
              <a:t>блоки</a:t>
            </a:r>
            <a:r>
              <a:rPr dirty="0"/>
              <a:t>. </a:t>
            </a:r>
            <a:r>
              <a:rPr dirty="0" err="1"/>
              <a:t>Данные</a:t>
            </a:r>
            <a:r>
              <a:rPr dirty="0"/>
              <a:t> с microSD </a:t>
            </a:r>
            <a:r>
              <a:rPr dirty="0" err="1"/>
              <a:t>поступают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SPI-</a:t>
            </a:r>
            <a:r>
              <a:rPr dirty="0" err="1"/>
              <a:t>контроллер</a:t>
            </a:r>
            <a:r>
              <a:rPr dirty="0"/>
              <a:t> и </a:t>
            </a:r>
            <a:r>
              <a:rPr dirty="0" err="1"/>
              <a:t>блок</a:t>
            </a:r>
            <a:r>
              <a:rPr dirty="0"/>
              <a:t> </a:t>
            </a:r>
            <a:r>
              <a:rPr dirty="0" err="1"/>
              <a:t>чтения</a:t>
            </a:r>
            <a:r>
              <a:rPr dirty="0"/>
              <a:t> </a:t>
            </a:r>
            <a:r>
              <a:rPr dirty="0" err="1"/>
              <a:t>секторов</a:t>
            </a:r>
            <a:r>
              <a:rPr dirty="0"/>
              <a:t>. FAT32/WAV-</a:t>
            </a:r>
            <a:r>
              <a:rPr dirty="0" err="1"/>
              <a:t>плеер</a:t>
            </a:r>
            <a:r>
              <a:rPr dirty="0"/>
              <a:t> </a:t>
            </a:r>
            <a:r>
              <a:rPr dirty="0" err="1"/>
              <a:t>выделяет</a:t>
            </a:r>
            <a:r>
              <a:rPr dirty="0"/>
              <a:t> </a:t>
            </a:r>
            <a:r>
              <a:rPr dirty="0" err="1"/>
              <a:t>сэмплы</a:t>
            </a:r>
            <a:r>
              <a:rPr dirty="0"/>
              <a:t>, FIFO </a:t>
            </a:r>
            <a:r>
              <a:rPr dirty="0" err="1"/>
              <a:t>сглаживает</a:t>
            </a:r>
            <a:r>
              <a:rPr dirty="0"/>
              <a:t> </a:t>
            </a:r>
            <a:r>
              <a:rPr dirty="0" err="1"/>
              <a:t>поток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, а PCM-</a:t>
            </a:r>
            <a:r>
              <a:rPr dirty="0" err="1"/>
              <a:t>сэмплы</a:t>
            </a:r>
            <a:r>
              <a:rPr dirty="0"/>
              <a:t> </a:t>
            </a:r>
            <a:r>
              <a:rPr dirty="0" err="1"/>
              <a:t>поступают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звуковой</a:t>
            </a:r>
            <a:r>
              <a:rPr dirty="0"/>
              <a:t> </a:t>
            </a:r>
            <a:r>
              <a:rPr dirty="0" err="1"/>
              <a:t>выход</a:t>
            </a:r>
            <a:r>
              <a:rPr dirty="0"/>
              <a:t>, </a:t>
            </a:r>
            <a:r>
              <a:rPr dirty="0" err="1"/>
              <a:t>измеритель</a:t>
            </a:r>
            <a:r>
              <a:rPr dirty="0"/>
              <a:t> </a:t>
            </a:r>
            <a:r>
              <a:rPr dirty="0" err="1"/>
              <a:t>уровня</a:t>
            </a:r>
            <a:r>
              <a:rPr dirty="0"/>
              <a:t> и </a:t>
            </a:r>
            <a:r>
              <a:rPr dirty="0" err="1"/>
              <a:t>частотный</a:t>
            </a:r>
            <a:r>
              <a:rPr dirty="0"/>
              <a:t> </a:t>
            </a:r>
            <a:r>
              <a:rPr dirty="0" err="1"/>
              <a:t>анализатор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Контроллер</a:t>
            </a:r>
            <a:r>
              <a:rPr dirty="0"/>
              <a:t> </a:t>
            </a:r>
            <a:r>
              <a:rPr dirty="0" err="1"/>
              <a:t>клавиатуры</a:t>
            </a:r>
            <a:r>
              <a:rPr dirty="0"/>
              <a:t> </a:t>
            </a:r>
            <a:r>
              <a:rPr dirty="0" err="1"/>
              <a:t>передаёт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плееру</a:t>
            </a:r>
            <a:r>
              <a:rPr dirty="0"/>
              <a:t>, </a:t>
            </a:r>
            <a:r>
              <a:rPr dirty="0" err="1"/>
              <a:t>видеоблок</a:t>
            </a:r>
            <a:r>
              <a:rPr dirty="0"/>
              <a:t> </a:t>
            </a:r>
            <a:r>
              <a:rPr dirty="0" err="1"/>
              <a:t>формирует</a:t>
            </a:r>
            <a:r>
              <a:rPr dirty="0"/>
              <a:t> VGA-</a:t>
            </a:r>
            <a:r>
              <a:rPr dirty="0" err="1"/>
              <a:t>изображение</a:t>
            </a:r>
            <a:r>
              <a:rPr dirty="0"/>
              <a:t>, </a:t>
            </a:r>
            <a:r>
              <a:rPr dirty="0" err="1"/>
              <a:t>отдельные</a:t>
            </a:r>
            <a:r>
              <a:rPr dirty="0"/>
              <a:t> </a:t>
            </a:r>
            <a:r>
              <a:rPr dirty="0" err="1"/>
              <a:t>блоки</a:t>
            </a:r>
            <a:r>
              <a:rPr dirty="0"/>
              <a:t> </a:t>
            </a:r>
            <a:r>
              <a:rPr dirty="0" err="1"/>
              <a:t>управляют</a:t>
            </a:r>
            <a:r>
              <a:rPr dirty="0"/>
              <a:t> </a:t>
            </a:r>
            <a:r>
              <a:rPr dirty="0" err="1"/>
              <a:t>светодиодами</a:t>
            </a:r>
            <a:r>
              <a:rPr dirty="0"/>
              <a:t> и </a:t>
            </a:r>
            <a:r>
              <a:rPr dirty="0" err="1"/>
              <a:t>энергосбережением</a:t>
            </a:r>
            <a:r>
              <a:rPr dirty="0"/>
              <a:t>. </a:t>
            </a:r>
            <a:r>
              <a:rPr dirty="0" err="1"/>
              <a:t>Основная</a:t>
            </a:r>
            <a:r>
              <a:rPr dirty="0"/>
              <a:t> </a:t>
            </a:r>
            <a:r>
              <a:rPr dirty="0" err="1"/>
              <a:t>логика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100 </a:t>
            </a:r>
            <a:r>
              <a:rPr dirty="0" err="1"/>
              <a:t>мегагерц</a:t>
            </a:r>
            <a:r>
              <a:rPr dirty="0"/>
              <a:t>, VGA — </a:t>
            </a:r>
            <a:r>
              <a:rPr dirty="0" err="1"/>
              <a:t>от</a:t>
            </a:r>
            <a:r>
              <a:rPr dirty="0"/>
              <a:t> 40 </a:t>
            </a:r>
            <a:r>
              <a:rPr dirty="0" err="1"/>
              <a:t>мегагерц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Таким</a:t>
            </a:r>
            <a:r>
              <a:rPr dirty="0"/>
              <a:t> </a:t>
            </a:r>
            <a:r>
              <a:rPr dirty="0" err="1"/>
              <a:t>образом</a:t>
            </a:r>
            <a:r>
              <a:rPr dirty="0"/>
              <a:t>, </a:t>
            </a:r>
            <a:r>
              <a:rPr dirty="0" err="1"/>
              <a:t>клавиатура</a:t>
            </a:r>
            <a:r>
              <a:rPr dirty="0"/>
              <a:t> </a:t>
            </a:r>
            <a:r>
              <a:rPr dirty="0" err="1"/>
              <a:t>управляет</a:t>
            </a:r>
            <a:r>
              <a:rPr dirty="0"/>
              <a:t> </a:t>
            </a:r>
            <a:r>
              <a:rPr dirty="0" err="1"/>
              <a:t>воспроизведением</a:t>
            </a:r>
            <a:r>
              <a:rPr dirty="0"/>
              <a:t>, </a:t>
            </a:r>
            <a:r>
              <a:rPr dirty="0" err="1"/>
              <a:t>акселерометр</a:t>
            </a:r>
            <a:r>
              <a:rPr dirty="0"/>
              <a:t> </a:t>
            </a:r>
            <a:r>
              <a:rPr dirty="0" err="1"/>
              <a:t>добавляет</a:t>
            </a:r>
            <a:r>
              <a:rPr dirty="0"/>
              <a:t> </a:t>
            </a:r>
            <a:r>
              <a:rPr dirty="0" err="1"/>
              <a:t>энергосбережение</a:t>
            </a:r>
            <a:r>
              <a:rPr dirty="0"/>
              <a:t>, а </a:t>
            </a:r>
            <a:r>
              <a:rPr dirty="0" err="1"/>
              <a:t>экран</a:t>
            </a:r>
            <a:r>
              <a:rPr dirty="0"/>
              <a:t> и </a:t>
            </a:r>
            <a:r>
              <a:rPr dirty="0" err="1"/>
              <a:t>светодиоды</a:t>
            </a:r>
            <a:r>
              <a:rPr dirty="0"/>
              <a:t> </a:t>
            </a:r>
            <a:r>
              <a:rPr dirty="0" err="1"/>
              <a:t>показывают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 и </a:t>
            </a:r>
            <a:r>
              <a:rPr dirty="0" err="1"/>
              <a:t>характеристики</a:t>
            </a:r>
            <a:r>
              <a:rPr dirty="0"/>
              <a:t> </a:t>
            </a:r>
            <a:r>
              <a:rPr dirty="0" err="1"/>
              <a:t>музыки</a:t>
            </a:r>
            <a:r>
              <a:rPr dirty="0"/>
              <a:t>. </a:t>
            </a:r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объединили</a:t>
            </a:r>
            <a:r>
              <a:rPr dirty="0"/>
              <a:t> </a:t>
            </a: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эти</a:t>
            </a:r>
            <a:r>
              <a:rPr dirty="0"/>
              <a:t> </a:t>
            </a:r>
            <a:r>
              <a:rPr dirty="0" err="1"/>
              <a:t>функции</a:t>
            </a:r>
            <a:r>
              <a:rPr dirty="0"/>
              <a:t> в </a:t>
            </a:r>
            <a:r>
              <a:rPr dirty="0" err="1"/>
              <a:t>одном</a:t>
            </a:r>
            <a:r>
              <a:rPr dirty="0"/>
              <a:t> </a:t>
            </a:r>
            <a:r>
              <a:rPr dirty="0" err="1"/>
              <a:t>проекте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FPGA. </a:t>
            </a:r>
            <a:r>
              <a:rPr dirty="0" err="1"/>
              <a:t>Спасибо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3568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>
            <a:extLst>
              <a:ext uri="{FF2B5EF4-FFF2-40B4-BE49-F238E27FC236}">
                <a16:creationId xmlns:a16="http://schemas.microsoft.com/office/drawing/2014/main" xmlns="" id="{43266062-329C-4F2E-B170-47C2CFAD48D5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">
            <a:extLst>
              <a:ext uri="{FF2B5EF4-FFF2-40B4-BE49-F238E27FC236}">
                <a16:creationId xmlns:a16="http://schemas.microsoft.com/office/drawing/2014/main" xmlns="" id="{F1240584-0C13-47F0-9B61-697A14C37559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>
            <a:extLst>
              <a:ext uri="{FF2B5EF4-FFF2-40B4-BE49-F238E27FC236}">
                <a16:creationId xmlns:a16="http://schemas.microsoft.com/office/drawing/2014/main" xmlns="" id="{FDDC61B7-9A22-4D99-93E4-742F952D6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/>
          </a:ln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>
            <a:extLst>
              <a:ext uri="{FF2B5EF4-FFF2-40B4-BE49-F238E27FC236}">
                <a16:creationId xmlns:a16="http://schemas.microsoft.com/office/drawing/2014/main" xmlns="" id="{F79BE0D3-1FCA-4B52-BD42-C8FF00EB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/>
          </a:ln>
        </p:spPr>
        <p:txBody>
          <a:bodyPr lIns="45719" rIns="45719"/>
          <a:lstStyle/>
          <a:p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xmlns="" id="{55757B24-5B63-458B-AEB5-B9AFDB55BEC8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/>
          </a:ln>
        </p:spPr>
        <p:txBody>
          <a:bodyPr wrap="none" lIns="45719" rIns="45719" anchor="ctr">
            <a:spAutoFit/>
          </a:bodyPr>
          <a:lstStyle>
            <a:lvl1pPr algn="r">
              <a:buNone/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9pPr>
    </p:titleStyle>
    <p:body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9pPr>
    </p:bodyStyle>
    <p:otherStyle>
      <a:lvl1pPr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15;p7">
            <a:extLst>
              <a:ext uri="{FF2B5EF4-FFF2-40B4-BE49-F238E27FC236}">
                <a16:creationId xmlns:a16="http://schemas.microsoft.com/office/drawing/2014/main" xmlns="" id="{FDFBEFC8-2D9F-47F0-883E-9D8E9A68A14B}"/>
              </a:ext>
            </a:extLst>
          </p:cNvPr>
          <p:cNvSpPr>
            <a:spLocks noGrp="1"/>
          </p:cNvSpPr>
          <p:nvPr/>
        </p:nvSpPr>
        <p:spPr>
          <a:xfrm>
            <a:off x="559800" y="4249825"/>
            <a:ext cx="8028300" cy="463264"/>
          </a:xfrm>
          <a:prstGeom prst="rect">
            <a:avLst/>
          </a:prstGeom>
          <a:ln w="12700">
            <a:miter/>
          </a:ln>
        </p:spPr>
        <p:txBody>
          <a:bodyPr lIns="91424" tIns="91424" rIns="91424" bIns="91424">
            <a:spAutoFit/>
          </a:bodyPr>
          <a:lstStyle>
            <a:defPPr algn="r">
              <a:defRPr sz="16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defPPr>
            <a:lvl1pPr algn="r">
              <a:lnSpc>
                <a:spcPct val="115000"/>
              </a:lnSpc>
              <a:buNone/>
              <a:defRPr sz="16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1pPr>
            <a:lvl2pPr algn="r">
              <a:buNone/>
              <a:defRPr sz="16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2pPr>
            <a:lvl3pPr algn="r">
              <a:buNone/>
              <a:defRPr sz="16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3pPr>
            <a:lvl4pPr algn="r">
              <a:buNone/>
              <a:defRPr sz="16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4pPr>
            <a:lvl5pPr algn="r">
              <a:buNone/>
              <a:defRPr sz="16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5pPr>
            <a:lvl6pPr algn="r">
              <a:buNone/>
              <a:defRPr sz="16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6pPr>
            <a:lvl7pPr algn="r">
              <a:buNone/>
              <a:defRPr sz="16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7pPr>
            <a:lvl8pPr algn="r">
              <a:buNone/>
              <a:defRPr sz="16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8pPr>
            <a:lvl9pPr algn="r">
              <a:buNone/>
              <a:defRPr sz="16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9pPr>
          </a:lstStyle>
          <a:p>
            <a:pPr algn="r">
              <a:buNone/>
              <a:defRPr sz="16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6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Интерактивный музыкальный плеер на FPGA</a:t>
            </a:r>
          </a:p>
        </p:txBody>
      </p:sp>
      <p:sp>
        <p:nvSpPr>
          <p:cNvPr id="4" name="Google Shape;26;p9">
            <a:extLst>
              <a:ext uri="{FF2B5EF4-FFF2-40B4-BE49-F238E27FC236}">
                <a16:creationId xmlns:a16="http://schemas.microsoft.com/office/drawing/2014/main" xmlns="" id="{AE627A8B-3C2D-7D4D-BCB5-DCF20BCDDAFD}"/>
              </a:ext>
            </a:extLst>
          </p:cNvPr>
          <p:cNvSpPr>
            <a:spLocks noGrp="1"/>
          </p:cNvSpPr>
          <p:nvPr/>
        </p:nvSpPr>
        <p:spPr>
          <a:xfrm>
            <a:off x="557850" y="1002614"/>
            <a:ext cx="8028300" cy="701008"/>
          </a:xfrm>
          <a:prstGeom prst="rect">
            <a:avLst/>
          </a:prstGeom>
          <a:ln w="12700">
            <a:miter/>
          </a:ln>
        </p:spPr>
        <p:txBody>
          <a:bodyPr lIns="91424" tIns="91424" rIns="91424" bIns="91424">
            <a:spAutoFit/>
          </a:bodyPr>
          <a:lstStyle>
            <a:defPPr algn="r">
              <a:defRPr sz="34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defPPr>
            <a:lvl1pPr algn="r">
              <a:buNone/>
              <a:defRPr sz="34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1pPr>
            <a:lvl2pPr algn="r">
              <a:buNone/>
              <a:defRPr sz="34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2pPr>
            <a:lvl3pPr algn="r">
              <a:buNone/>
              <a:defRPr sz="34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3pPr>
            <a:lvl4pPr algn="r">
              <a:buNone/>
              <a:defRPr sz="34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4pPr>
            <a:lvl5pPr algn="r">
              <a:buNone/>
              <a:defRPr sz="34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5pPr>
            <a:lvl6pPr algn="r">
              <a:buNone/>
              <a:defRPr sz="34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6pPr>
            <a:lvl7pPr algn="r">
              <a:buNone/>
              <a:defRPr sz="34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7pPr>
            <a:lvl8pPr algn="r">
              <a:buNone/>
              <a:defRPr sz="34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8pPr>
            <a:lvl9pPr algn="r">
              <a:buNone/>
              <a:defRPr sz="34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9pPr>
          </a:lstStyle>
          <a:p>
            <a:pPr algn="r">
              <a:buNone/>
              <a:defRPr sz="34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34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Команда </a:t>
            </a:r>
            <a:r>
              <a:t>№2</a:t>
            </a:r>
            <a:r>
              <a:rPr sz="34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 «Уравнение Бога»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48782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20;p8">
            <a:extLst>
              <a:ext uri="{FF2B5EF4-FFF2-40B4-BE49-F238E27FC236}">
                <a16:creationId xmlns:a16="http://schemas.microsoft.com/office/drawing/2014/main" xmlns="" id="{829B7660-3FC1-47D8-A10E-536A859552AF}"/>
              </a:ext>
            </a:extLst>
          </p:cNvPr>
          <p:cNvSpPr>
            <a:spLocks noGrp="1"/>
          </p:cNvSpPr>
          <p:nvPr/>
        </p:nvSpPr>
        <p:spPr>
          <a:xfrm>
            <a:off x="559799" y="300650"/>
            <a:ext cx="5924128" cy="674338"/>
          </a:xfrm>
          <a:prstGeom prst="rect">
            <a:avLst/>
          </a:prstGeom>
          <a:ln w="12700">
            <a:miter/>
          </a:ln>
        </p:spPr>
        <p:txBody>
          <a:bodyPr wrap="square" lIns="91424" tIns="91424" rIns="91424" bIns="91424">
            <a:spAutoFit/>
          </a:bodyPr>
          <a:lstStyle>
            <a:defPPr algn="r">
              <a:defRPr sz="3225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defPPr>
            <a:lvl1pPr algn="r">
              <a:buNone/>
              <a:defRPr sz="34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1pPr>
            <a:lvl2pPr algn="r">
              <a:buNone/>
              <a:defRPr sz="3225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2pPr>
            <a:lvl3pPr algn="r">
              <a:buNone/>
              <a:defRPr sz="3225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3pPr>
            <a:lvl4pPr algn="r">
              <a:buNone/>
              <a:defRPr sz="3225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4pPr>
            <a:lvl5pPr algn="r">
              <a:buNone/>
              <a:defRPr sz="3225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5pPr>
            <a:lvl6pPr algn="r">
              <a:buNone/>
              <a:defRPr sz="3225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6pPr>
            <a:lvl7pPr algn="r">
              <a:buNone/>
              <a:defRPr sz="3225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7pPr>
            <a:lvl8pPr algn="r">
              <a:buNone/>
              <a:defRPr sz="3225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8pPr>
            <a:lvl9pPr algn="r">
              <a:buNone/>
              <a:defRPr sz="3225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9pPr>
          </a:lstStyle>
          <a:p>
            <a:pPr algn="r">
              <a:buNone/>
              <a:defRPr sz="3225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3225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Демонстрация проекта</a:t>
            </a:r>
            <a:endParaRPr/>
          </a:p>
        </p:txBody>
      </p:sp>
      <p:pic>
        <p:nvPicPr>
          <p:cNvPr id="51" name="Title.pngGoogle Shape;21;p8">
            <a:extLst>
              <a:ext uri="{FF2B5EF4-FFF2-40B4-BE49-F238E27FC236}">
                <a16:creationId xmlns:a16="http://schemas.microsoft.com/office/drawing/2014/main" xmlns="" id="{1B66426F-A4C0-409D-B61A-0C33E08DC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25" y="4527080"/>
            <a:ext cx="1569012" cy="446159"/>
          </a:xfrm>
          <a:prstGeom prst="rect">
            <a:avLst/>
          </a:prstGeom>
          <a:ln w="12700">
            <a:miter/>
          </a:ln>
        </p:spPr>
      </p:pic>
      <p:sp>
        <p:nvSpPr>
          <p:cNvPr id="4" name="Google Shape;27;p9">
            <a:extLst>
              <a:ext uri="{FF2B5EF4-FFF2-40B4-BE49-F238E27FC236}">
                <a16:creationId xmlns:a16="http://schemas.microsoft.com/office/drawing/2014/main" xmlns="" id="{7EE58DE4-E621-4842-9118-F22CB8072D4A}"/>
              </a:ext>
            </a:extLst>
          </p:cNvPr>
          <p:cNvSpPr>
            <a:spLocks noGrp="1"/>
          </p:cNvSpPr>
          <p:nvPr/>
        </p:nvSpPr>
        <p:spPr>
          <a:xfrm>
            <a:off x="553825" y="841479"/>
            <a:ext cx="8028300" cy="743680"/>
          </a:xfrm>
          <a:prstGeom prst="rect">
            <a:avLst/>
          </a:prstGeom>
          <a:ln w="12700">
            <a:miter/>
          </a:ln>
        </p:spPr>
        <p:txBody>
          <a:bodyPr lIns="91424" tIns="91424" rIns="91424" bIns="91424">
            <a:spAutoFit/>
          </a:bodyPr>
          <a:lstStyle>
            <a:defPPr algn="r">
              <a:defRPr sz="16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defPPr>
            <a:lvl1pPr algn="r">
              <a:buNone/>
              <a:defRPr sz="16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1pPr>
            <a:lvl2pPr algn="r">
              <a:buNone/>
              <a:defRPr sz="16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2pPr>
            <a:lvl3pPr algn="r">
              <a:buNone/>
              <a:defRPr sz="16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3pPr>
            <a:lvl4pPr algn="r">
              <a:buNone/>
              <a:defRPr sz="16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4pPr>
            <a:lvl5pPr algn="r">
              <a:buNone/>
              <a:defRPr sz="16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5pPr>
            <a:lvl6pPr algn="r">
              <a:buNone/>
              <a:defRPr sz="16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6pPr>
            <a:lvl7pPr algn="r">
              <a:buNone/>
              <a:defRPr sz="16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7pPr>
            <a:lvl8pPr algn="r">
              <a:buNone/>
              <a:defRPr sz="16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8pPr>
            <a:lvl9pPr algn="r">
              <a:buNone/>
              <a:defRPr sz="16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9pPr>
          </a:lstStyle>
          <a:p>
            <a:pPr marL="342900" indent="-342900" algn="r">
              <a:lnSpc>
                <a:spcPct val="115000"/>
              </a:lnSpc>
              <a:buFont typeface="+mj-lt"/>
              <a:buAutoNum type="arabicPeriod"/>
              <a:defRPr sz="16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6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Идея: автономный плеер на Nexys A7-100T.</a:t>
            </a:r>
          </a:p>
          <a:p>
            <a:pPr marL="342900" indent="-342900" algn="r">
              <a:lnSpc>
                <a:spcPct val="115000"/>
              </a:lnSpc>
              <a:buFont typeface="+mj-lt"/>
              <a:buAutoNum type="arabicPeriod"/>
              <a:defRPr sz="16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6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Результат: звук, VGA и периферия объединены</a:t>
            </a:r>
            <a:r>
              <a:t>.</a:t>
            </a:r>
            <a:r>
              <a:rPr sz="16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 </a:t>
            </a:r>
          </a:p>
        </p:txBody>
      </p:sp>
      <p:sp>
        <p:nvSpPr>
          <p:cNvPr id="6" name="Google Shape;32;p10">
            <a:extLst>
              <a:ext uri="{FF2B5EF4-FFF2-40B4-BE49-F238E27FC236}">
                <a16:creationId xmlns:a16="http://schemas.microsoft.com/office/drawing/2014/main" xmlns="" id="{6347F4B2-E212-A049-97DA-C7F19B3BD719}"/>
              </a:ext>
            </a:extLst>
          </p:cNvPr>
          <p:cNvSpPr>
            <a:spLocks noGrp="1"/>
          </p:cNvSpPr>
          <p:nvPr/>
        </p:nvSpPr>
        <p:spPr>
          <a:xfrm>
            <a:off x="3796146" y="4791455"/>
            <a:ext cx="1784308" cy="175831"/>
          </a:xfrm>
          <a:prstGeom prst="rect">
            <a:avLst/>
          </a:prstGeom>
          <a:ln w="12700">
            <a:miter/>
          </a:ln>
        </p:spPr>
        <p:txBody>
          <a:bodyPr wrap="square" lIns="91424" tIns="91424" rIns="91424" bIns="91424">
            <a:spAutoFit/>
          </a:bodyPr>
          <a:lstStyle>
            <a:defPPr algn="r"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defPPr>
            <a:lvl1pPr algn="r">
              <a:buNone/>
              <a:defRPr sz="34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1pPr>
            <a:lvl2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2pPr>
            <a:lvl3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3pPr>
            <a:lvl4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4pPr>
            <a:lvl5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5pPr>
            <a:lvl6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6pPr>
            <a:lvl7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7pPr>
            <a:lvl8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8pPr>
            <a:lvl9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9pPr>
          </a:lstStyle>
          <a:p>
            <a: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endParaRPr b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xmlns="" id="{A33F5EBC-481A-49E3-947D-7FDD09FF0254}"/>
              </a:ext>
            </a:extLst>
          </p:cNvPr>
          <p:cNvGraphicFramePr/>
          <p:nvPr/>
        </p:nvGraphicFramePr>
        <p:xfrm>
          <a:off x="664199" y="1644711"/>
          <a:ext cx="7920001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88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12486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34630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/>
                        <a:t>Критерий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/>
                        <a:t>Что получилось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/>
                        <a:t>Что не получилось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28600" indent="-228600" algn="l">
                        <a:buAutoNum type="arabicPeriod"/>
                      </a:pPr>
                      <a:r>
                        <a:t>Цифровой звук</a:t>
                      </a:r>
                    </a:p>
                    <a:p>
                      <a:pPr marL="0" indent="0" algn="l">
                        <a:buNone/>
                      </a:pPr>
                      <a:r>
                        <a:rPr sz="1000">
                          <a:solidFill>
                            <a:schemeClr val="bg2"/>
                          </a:solidFill>
                        </a:rPr>
                        <a:t>(и управление им)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3 PCM WAV с microSD;</a:t>
                      </a:r>
                    </a:p>
                    <a:p>
                      <a:pPr algn="ctr">
                        <a:buNone/>
                      </a:pPr>
                      <a:r>
                        <a:t>клавиши выбора и паузы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Произвольные WAV файлы не поддерживаются (формат композиций строго зафиксирован); управление громкостью (не хватило времени)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t>2. Видеовыход VGA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Меню, обложки, таймер,</a:t>
                      </a:r>
                    </a:p>
                    <a:p>
                      <a:pPr algn="ctr">
                        <a:buNone/>
                      </a:pPr>
                      <a:r>
                        <a:t>прогресс и 8 полос спектра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576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t>3. Периферия платы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7-сегм., 16 LED, 2 RGB;</a:t>
                      </a:r>
                    </a:p>
                    <a:p>
                      <a:pPr algn="ctr">
                        <a:buNone/>
                      </a:pPr>
                      <a:r>
                        <a:t>ADXL362: сон и пробуждение;</a:t>
                      </a:r>
                    </a:p>
                    <a:p>
                      <a:pPr algn="ctr">
                        <a:buNone/>
                      </a:pPr>
                      <a:r>
                        <a:t>Переключение треков с помощью клавиатуры;</a:t>
                      </a:r>
                    </a:p>
                    <a:p>
                      <a:pPr algn="ctr">
                        <a:buNone/>
                      </a:pPr>
                      <a:r>
                        <a:t>Переключатель для режима сна;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Не придумали, как использовать оставшиеся кнопки и переключатели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8" name="Google Shape;32;p10">
            <a:extLst>
              <a:ext uri="{FF2B5EF4-FFF2-40B4-BE49-F238E27FC236}">
                <a16:creationId xmlns:a16="http://schemas.microsoft.com/office/drawing/2014/main" xmlns="" id="{6AECFA35-8BDE-4D07-B395-D01848FC97FA}"/>
              </a:ext>
            </a:extLst>
          </p:cNvPr>
          <p:cNvSpPr>
            <a:spLocks noGrp="1"/>
          </p:cNvSpPr>
          <p:nvPr/>
        </p:nvSpPr>
        <p:spPr>
          <a:xfrm>
            <a:off x="6259721" y="4733979"/>
            <a:ext cx="2805901" cy="369300"/>
          </a:xfrm>
          <a:prstGeom prst="rect">
            <a:avLst/>
          </a:prstGeom>
          <a:ln w="12700">
            <a:miter/>
          </a:ln>
        </p:spPr>
        <p:txBody>
          <a:bodyPr wrap="square" lIns="91424" tIns="91424" rIns="91424" bIns="91424">
            <a:spAutoFit/>
          </a:bodyPr>
          <a:lstStyle>
            <a:defPPr algn="r"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defPPr>
            <a:lvl1pPr algn="r">
              <a:buNone/>
              <a:defRPr sz="34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1pPr>
            <a:lvl2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2pPr>
            <a:lvl3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3pPr>
            <a:lvl4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4pPr>
            <a:lvl5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5pPr>
            <a:lvl6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6pPr>
            <a:lvl7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7pPr>
            <a:lvl8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8pPr>
            <a:lvl9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9pPr>
          </a:lstStyle>
          <a:p>
            <a: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200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Команда №2 «Уравнение Бога»</a:t>
            </a:r>
            <a:endParaRPr sz="1200" b="0"/>
          </a:p>
        </p:txBody>
      </p:sp>
    </p:spTree>
    <p:extLst>
      <p:ext uri="{BB962C8B-B14F-4D97-AF65-F5344CB8AC3E}">
        <p14:creationId xmlns:p14="http://schemas.microsoft.com/office/powerpoint/2010/main" val="1560577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20;p8">
            <a:extLst>
              <a:ext uri="{FF2B5EF4-FFF2-40B4-BE49-F238E27FC236}">
                <a16:creationId xmlns:a16="http://schemas.microsoft.com/office/drawing/2014/main" xmlns="" id="{94C7B4BE-A8DE-4670-A176-007D9BE5A2C9}"/>
              </a:ext>
            </a:extLst>
          </p:cNvPr>
          <p:cNvSpPr>
            <a:spLocks noGrp="1"/>
          </p:cNvSpPr>
          <p:nvPr/>
        </p:nvSpPr>
        <p:spPr>
          <a:xfrm>
            <a:off x="559799" y="300650"/>
            <a:ext cx="5924128" cy="701008"/>
          </a:xfrm>
          <a:prstGeom prst="rect">
            <a:avLst/>
          </a:prstGeom>
          <a:ln w="12700">
            <a:miter/>
          </a:ln>
        </p:spPr>
        <p:txBody>
          <a:bodyPr wrap="square" lIns="91424" tIns="91424" rIns="91424" bIns="91424">
            <a:spAutoFit/>
          </a:bodyPr>
          <a:lstStyle>
            <a:defPPr algn="r">
              <a:defRPr sz="34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defPPr>
            <a:lvl1pPr algn="r">
              <a:buNone/>
              <a:defRPr sz="34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1pPr>
            <a:lvl2pPr algn="r">
              <a:buNone/>
              <a:defRPr sz="34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2pPr>
            <a:lvl3pPr algn="r">
              <a:buNone/>
              <a:defRPr sz="34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3pPr>
            <a:lvl4pPr algn="r">
              <a:buNone/>
              <a:defRPr sz="34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4pPr>
            <a:lvl5pPr algn="r">
              <a:buNone/>
              <a:defRPr sz="34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5pPr>
            <a:lvl6pPr algn="r">
              <a:buNone/>
              <a:defRPr sz="34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6pPr>
            <a:lvl7pPr algn="r">
              <a:buNone/>
              <a:defRPr sz="34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7pPr>
            <a:lvl8pPr algn="r">
              <a:buNone/>
              <a:defRPr sz="34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8pPr>
            <a:lvl9pPr algn="r">
              <a:buNone/>
              <a:defRPr sz="34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9pPr>
          </a:lstStyle>
          <a:p>
            <a:pPr algn="r">
              <a:buNone/>
              <a:defRPr sz="34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34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Демонстрация проекта</a:t>
            </a:r>
            <a:endParaRPr/>
          </a:p>
        </p:txBody>
      </p:sp>
      <p:pic>
        <p:nvPicPr>
          <p:cNvPr id="51" name="Title.pngGoogle Shape;21;p8">
            <a:extLst>
              <a:ext uri="{FF2B5EF4-FFF2-40B4-BE49-F238E27FC236}">
                <a16:creationId xmlns:a16="http://schemas.microsoft.com/office/drawing/2014/main" xmlns="" id="{C957CC4D-041D-45AE-A928-451C6E924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24" y="4317074"/>
            <a:ext cx="1849001" cy="525776"/>
          </a:xfrm>
          <a:prstGeom prst="rect">
            <a:avLst/>
          </a:prstGeom>
          <a:ln w="12700">
            <a:miter/>
          </a:ln>
        </p:spPr>
      </p:pic>
      <p:sp>
        <p:nvSpPr>
          <p:cNvPr id="4" name="Google Shape;27;p9">
            <a:extLst>
              <a:ext uri="{FF2B5EF4-FFF2-40B4-BE49-F238E27FC236}">
                <a16:creationId xmlns:a16="http://schemas.microsoft.com/office/drawing/2014/main" xmlns="" id="{7EE58DE4-E621-4842-9118-F22CB8072D4A}"/>
              </a:ext>
            </a:extLst>
          </p:cNvPr>
          <p:cNvSpPr>
            <a:spLocks noGrp="1"/>
          </p:cNvSpPr>
          <p:nvPr/>
        </p:nvSpPr>
        <p:spPr>
          <a:xfrm>
            <a:off x="3667125" y="1304924"/>
            <a:ext cx="5037963" cy="2708914"/>
          </a:xfrm>
          <a:prstGeom prst="rect">
            <a:avLst/>
          </a:prstGeom>
          <a:ln w="12700">
            <a:miter/>
          </a:ln>
        </p:spPr>
        <p:txBody>
          <a:bodyPr wrap="square" lIns="91424" tIns="91424" rIns="91424" bIns="91424">
            <a:spAutoFit/>
          </a:bodyPr>
          <a:lstStyle>
            <a:defPPr algn="l">
              <a:defRPr sz="1463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defPPr>
            <a:lvl1pPr algn="l">
              <a:buNone/>
              <a:defRPr sz="1463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1pPr>
            <a:lvl2pPr algn="l">
              <a:buNone/>
              <a:defRPr sz="1463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2pPr>
            <a:lvl3pPr algn="l">
              <a:buNone/>
              <a:defRPr sz="1463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3pPr>
            <a:lvl4pPr algn="l">
              <a:buNone/>
              <a:defRPr sz="1463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4pPr>
            <a:lvl5pPr algn="l">
              <a:buNone/>
              <a:defRPr sz="1463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5pPr>
            <a:lvl6pPr algn="l">
              <a:buNone/>
              <a:defRPr sz="1463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6pPr>
            <a:lvl7pPr algn="l">
              <a:buNone/>
              <a:defRPr sz="1463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7pPr>
            <a:lvl8pPr algn="l">
              <a:buNone/>
              <a:defRPr sz="1463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8pPr>
            <a:lvl9pPr algn="l">
              <a:buNone/>
              <a:defRPr sz="1463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9pPr>
          </a:lstStyle>
          <a:p>
            <a:pPr algn="l">
              <a:lnSpc>
                <a:spcPct val="115000"/>
              </a:lnSpc>
              <a:buNone/>
              <a:defRPr sz="1463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600" b="1">
                <a:solidFill>
                  <a:srgbClr val="2B323A"/>
                </a:solidFill>
                <a:latin typeface="+mn-lt"/>
                <a:ea typeface="+mn-lt"/>
                <a:cs typeface="+mn-lt"/>
              </a:rPr>
              <a:t>1. Функционал: три WAV с microSD; VGA; таймер; семисегментный индикатор; LED/RGB; ADXL362</a:t>
            </a:r>
            <a:r>
              <a:rPr sz="1600" b="1">
                <a:latin typeface="+mn-lt"/>
                <a:ea typeface="+mn-lt"/>
                <a:cs typeface="+mn-lt"/>
              </a:rPr>
              <a:t>; клавиатура; перключатель;</a:t>
            </a:r>
            <a:endParaRPr sz="1600" b="1">
              <a:solidFill>
                <a:srgbClr val="2B323A"/>
              </a:solidFill>
              <a:latin typeface="+mn-lt"/>
              <a:ea typeface="+mn-lt"/>
              <a:cs typeface="+mn-lt"/>
            </a:endParaRPr>
          </a:p>
          <a:p>
            <a:pPr algn="l">
              <a:lnSpc>
                <a:spcPct val="115000"/>
              </a:lnSpc>
              <a:buNone/>
              <a:defRPr sz="1463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600" b="1">
                <a:solidFill>
                  <a:srgbClr val="2B323A"/>
                </a:solidFill>
                <a:latin typeface="+mn-lt"/>
                <a:ea typeface="+mn-lt"/>
                <a:cs typeface="+mn-lt"/>
              </a:rPr>
              <a:t>2. Сторонний IP и код: Clocking Wizard</a:t>
            </a:r>
            <a:r>
              <a:rPr sz="1600" b="1">
                <a:latin typeface="+mn-lt"/>
                <a:ea typeface="+mn-lt"/>
                <a:cs typeface="+mn-lt"/>
              </a:rPr>
              <a:t>, WangXuan95 GNU GPL – адаптирован SPI Sector Reader</a:t>
            </a:r>
            <a:r>
              <a:rPr sz="1600" b="1">
                <a:solidFill>
                  <a:srgbClr val="2B323A"/>
                </a:solidFill>
                <a:latin typeface="+mn-lt"/>
                <a:ea typeface="+mn-lt"/>
                <a:cs typeface="+mn-lt"/>
              </a:rPr>
              <a:t>; </a:t>
            </a:r>
          </a:p>
          <a:p>
            <a:pPr algn="l">
              <a:lnSpc>
                <a:spcPct val="115000"/>
              </a:lnSpc>
              <a:buNone/>
              <a:defRPr sz="1463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600" b="1">
                <a:solidFill>
                  <a:srgbClr val="2B323A"/>
                </a:solidFill>
                <a:latin typeface="+mn-lt"/>
                <a:ea typeface="+mn-lt"/>
                <a:cs typeface="+mn-lt"/>
              </a:rPr>
              <a:t>3. ИИ: ChatGPT / агент Codex — помощь с RTL</a:t>
            </a:r>
            <a:r>
              <a:rPr sz="1600" b="1">
                <a:latin typeface="+mn-lt"/>
                <a:ea typeface="+mn-lt"/>
                <a:cs typeface="+mn-lt"/>
              </a:rPr>
              <a:t> (ФНЧ для формирования частотных полос),  </a:t>
            </a:r>
            <a:r>
              <a:rPr sz="1600" b="1">
                <a:solidFill>
                  <a:srgbClr val="2B323A"/>
                </a:solidFill>
                <a:latin typeface="+mn-lt"/>
                <a:ea typeface="+mn-lt"/>
                <a:cs typeface="+mn-lt"/>
              </a:rPr>
              <a:t> обложками</a:t>
            </a:r>
            <a:r>
              <a:rPr sz="1600" b="1">
                <a:latin typeface="+mn-lt"/>
                <a:ea typeface="+mn-lt"/>
                <a:cs typeface="+mn-lt"/>
              </a:rPr>
              <a:t>.</a:t>
            </a:r>
            <a:endParaRPr sz="1600" b="1">
              <a:solidFill>
                <a:srgbClr val="2B323A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6" name="Google Shape;32;p10">
            <a:extLst>
              <a:ext uri="{FF2B5EF4-FFF2-40B4-BE49-F238E27FC236}">
                <a16:creationId xmlns:a16="http://schemas.microsoft.com/office/drawing/2014/main" xmlns="" id="{6347F4B2-E212-A049-97DA-C7F19B3BD719}"/>
              </a:ext>
            </a:extLst>
          </p:cNvPr>
          <p:cNvSpPr>
            <a:spLocks noGrp="1"/>
          </p:cNvSpPr>
          <p:nvPr/>
        </p:nvSpPr>
        <p:spPr>
          <a:xfrm>
            <a:off x="6526203" y="4733979"/>
            <a:ext cx="2539419" cy="369300"/>
          </a:xfrm>
          <a:prstGeom prst="rect">
            <a:avLst/>
          </a:prstGeom>
          <a:ln w="12700">
            <a:miter/>
          </a:ln>
        </p:spPr>
        <p:txBody>
          <a:bodyPr wrap="square" lIns="91424" tIns="91424" rIns="91424" bIns="91424">
            <a:spAutoFit/>
          </a:bodyPr>
          <a:lstStyle>
            <a:defPPr algn="r"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defPPr>
            <a:lvl1pPr algn="r">
              <a:buNone/>
              <a:defRPr sz="34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1pPr>
            <a:lvl2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2pPr>
            <a:lvl3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3pPr>
            <a:lvl4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4pPr>
            <a:lvl5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5pPr>
            <a:lvl6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6pPr>
            <a:lvl7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7pPr>
            <a:lvl8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8pPr>
            <a:lvl9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9pPr>
          </a:lstStyle>
          <a:p>
            <a: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200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Команда </a:t>
            </a:r>
            <a:r>
              <a:rPr sz="1200" b="0"/>
              <a:t>№2</a:t>
            </a:r>
            <a:r>
              <a:rPr sz="1200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 «Уравнение Бога»</a:t>
            </a:r>
            <a:endParaRPr sz="1200" b="0"/>
          </a:p>
        </p:txBody>
      </p:sp>
      <p:pic>
        <p:nvPicPr>
          <p:cNvPr id="52" name="Рисунок 51">
            <a:extLst>
              <a:ext uri="{FF2B5EF4-FFF2-40B4-BE49-F238E27FC236}">
                <a16:creationId xmlns:a16="http://schemas.microsoft.com/office/drawing/2014/main" xmlns="" id="{7CB976B7-5795-4DFC-8407-4415DE7346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52450" y="1514475"/>
            <a:ext cx="895350" cy="895350"/>
          </a:xfrm>
          <a:prstGeom prst="rect">
            <a:avLst/>
          </a:prstGeom>
        </p:spPr>
      </p:pic>
      <p:pic>
        <p:nvPicPr>
          <p:cNvPr id="53" name="Рисунок 52">
            <a:extLst>
              <a:ext uri="{FF2B5EF4-FFF2-40B4-BE49-F238E27FC236}">
                <a16:creationId xmlns:a16="http://schemas.microsoft.com/office/drawing/2014/main" xmlns="" id="{2835AC17-6EFD-4F71-B926-111F822CF9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562100" y="1514475"/>
            <a:ext cx="895350" cy="895350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xmlns="" id="{29718D7C-1343-4342-B889-9BD145D564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2571750" y="1514475"/>
            <a:ext cx="895350" cy="895350"/>
          </a:xfrm>
          <a:prstGeom prst="rect">
            <a:avLst/>
          </a:prstGeom>
        </p:spPr>
      </p:pic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xmlns="" id="{2BE7EED3-B3A4-4802-B164-03FA47055CE1}"/>
              </a:ext>
            </a:extLst>
          </p:cNvPr>
          <p:cNvSpPr>
            <a:spLocks noGrp="1"/>
          </p:cNvSpPr>
          <p:nvPr/>
        </p:nvSpPr>
        <p:spPr>
          <a:xfrm>
            <a:off x="552450" y="2514600"/>
            <a:ext cx="29527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ctr"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defPPr>
            <a:lvl1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1pPr>
            <a:lvl2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2pPr>
            <a:lvl3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3pPr>
            <a:lvl4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4pPr>
            <a:lvl5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5pPr>
            <a:lvl6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6pPr>
            <a:lvl7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7pPr>
            <a:lvl8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8pPr>
            <a:lvl9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9pPr>
          </a:lstStyle>
          <a:p>
            <a: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ТРИ ТРЕКА · WAV</a:t>
            </a:r>
          </a:p>
        </p:txBody>
      </p:sp>
    </p:spTree>
    <p:extLst>
      <p:ext uri="{BB962C8B-B14F-4D97-AF65-F5344CB8AC3E}">
        <p14:creationId xmlns:p14="http://schemas.microsoft.com/office/powerpoint/2010/main" val="1187489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365BE3B3-1C37-4F51-B9D9-66617519FF09}"/>
              </a:ext>
            </a:extLst>
          </p:cNvPr>
          <p:cNvSpPr>
            <a:spLocks noGrp="1"/>
          </p:cNvSpPr>
          <p:nvPr/>
        </p:nvSpPr>
        <p:spPr>
          <a:xfrm>
            <a:off x="552450" y="295275"/>
            <a:ext cx="8029575" cy="704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r">
              <a:defRPr sz="2925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defPPr>
            <a:lvl1pPr algn="r">
              <a:buNone/>
              <a:defRPr sz="2925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1pPr>
            <a:lvl2pPr algn="r">
              <a:buNone/>
              <a:defRPr sz="2925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2pPr>
            <a:lvl3pPr algn="r">
              <a:buNone/>
              <a:defRPr sz="2925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3pPr>
            <a:lvl4pPr algn="r">
              <a:buNone/>
              <a:defRPr sz="2925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4pPr>
            <a:lvl5pPr algn="r">
              <a:buNone/>
              <a:defRPr sz="2925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5pPr>
            <a:lvl6pPr algn="r">
              <a:buNone/>
              <a:defRPr sz="2925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6pPr>
            <a:lvl7pPr algn="r">
              <a:buNone/>
              <a:defRPr sz="2925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7pPr>
            <a:lvl8pPr algn="r">
              <a:buNone/>
              <a:defRPr sz="2925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8pPr>
            <a:lvl9pPr algn="r">
              <a:buNone/>
              <a:defRPr sz="2925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9pPr>
          </a:lstStyle>
          <a:p>
            <a:pPr algn="r">
              <a:buNone/>
              <a:defRPr sz="2925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2925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Как плеер связывает звук и экран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xmlns="" id="{FEAE914F-A068-41C2-874C-EE9611E6C5EB}"/>
              </a:ext>
            </a:extLst>
          </p:cNvPr>
          <p:cNvSpPr>
            <a:spLocks noGrp="1"/>
          </p:cNvSpPr>
          <p:nvPr/>
        </p:nvSpPr>
        <p:spPr>
          <a:xfrm>
            <a:off x="3733800" y="1266825"/>
            <a:ext cx="4857750" cy="2667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138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defPPr>
            <a:lvl1pPr algn="l">
              <a:buNone/>
              <a:defRPr sz="138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1pPr>
            <a:lvl2pPr algn="l">
              <a:buNone/>
              <a:defRPr sz="138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2pPr>
            <a:lvl3pPr algn="l">
              <a:buNone/>
              <a:defRPr sz="138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3pPr>
            <a:lvl4pPr algn="l">
              <a:buNone/>
              <a:defRPr sz="138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4pPr>
            <a:lvl5pPr algn="l">
              <a:buNone/>
              <a:defRPr sz="138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5pPr>
            <a:lvl6pPr algn="l">
              <a:buNone/>
              <a:defRPr sz="138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6pPr>
            <a:lvl7pPr algn="l">
              <a:buNone/>
              <a:defRPr sz="138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7pPr>
            <a:lvl8pPr algn="l">
              <a:buNone/>
              <a:defRPr sz="138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8pPr>
            <a:lvl9pPr algn="l">
              <a:buNone/>
              <a:defRPr sz="138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9pPr>
          </a:lstStyle>
          <a:p>
            <a:pPr algn="l">
              <a:buNone/>
              <a:defRPr sz="138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VGA 800×600 от Clocking Wizard: видеотакт 40 МГц</a:t>
            </a:r>
          </a:p>
          <a:p>
            <a:pPr algn="l">
              <a:buNone/>
              <a:defRPr sz="138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Меню и элементы интерфейса рисуются RTL-логикой</a:t>
            </a:r>
          </a:p>
          <a:p>
            <a:pPr algn="l">
              <a:buNone/>
              <a:defRPr sz="138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WAV: PCM 8 бит, моно, 48 кГц; три файла в корне FAT32</a:t>
            </a:r>
          </a:p>
          <a:p>
            <a:pPr algn="l">
              <a:buNone/>
              <a:defRPr sz="138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Обложки в ROM: RGB444, 192×192 хранятся и 384×384 выводятся</a:t>
            </a:r>
          </a:p>
          <a:p>
            <a:pPr algn="l">
              <a:buNone/>
              <a:defRPr sz="138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8 полос показывают энергию частотных диапазонов из PCM; 16 LED — общий уровень; RGB меняют цвет и вспыхивают при резком росте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D55443E2-30EC-436A-90F4-F112A4126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383506"/>
            <a:ext cx="2952750" cy="2214563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7B9D235B-2F17-4D77-B3F8-912A4F2CF2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64766" y="4314825"/>
            <a:ext cx="1842294" cy="523875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3634D301-B53A-4665-8CF2-A2578B377A81}"/>
              </a:ext>
            </a:extLst>
          </p:cNvPr>
          <p:cNvSpPr>
            <a:spLocks noGrp="1"/>
          </p:cNvSpPr>
          <p:nvPr/>
        </p:nvSpPr>
        <p:spPr>
          <a:xfrm>
            <a:off x="3800476" y="4681728"/>
            <a:ext cx="1790428" cy="137922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r"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defPPr>
            <a:lvl1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1pPr>
            <a:lvl2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2pPr>
            <a:lvl3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3pPr>
            <a:lvl4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4pPr>
            <a:lvl5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5pPr>
            <a:lvl6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6pPr>
            <a:lvl7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7pPr>
            <a:lvl8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8pPr>
            <a:lvl9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9pPr>
          </a:lstStyle>
          <a:p>
            <a: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endParaRPr sz="2800">
              <a:solidFill>
                <a:srgbClr val="2B323A"/>
              </a:solidFill>
              <a:latin typeface="SB Sans Display"/>
              <a:ea typeface="SB Sans Display"/>
              <a:cs typeface="SB Sans Display"/>
            </a:endParaRPr>
          </a:p>
        </p:txBody>
      </p:sp>
      <p:sp>
        <p:nvSpPr>
          <p:cNvPr id="7" name="Google Shape;32;p10">
            <a:extLst>
              <a:ext uri="{FF2B5EF4-FFF2-40B4-BE49-F238E27FC236}">
                <a16:creationId xmlns:a16="http://schemas.microsoft.com/office/drawing/2014/main" xmlns="" id="{88BC6F83-8432-4B7E-8516-50BE69BA628B}"/>
              </a:ext>
            </a:extLst>
          </p:cNvPr>
          <p:cNvSpPr>
            <a:spLocks noGrp="1"/>
          </p:cNvSpPr>
          <p:nvPr/>
        </p:nvSpPr>
        <p:spPr>
          <a:xfrm>
            <a:off x="6526203" y="4733979"/>
            <a:ext cx="2539419" cy="369300"/>
          </a:xfrm>
          <a:prstGeom prst="rect">
            <a:avLst/>
          </a:prstGeom>
          <a:ln w="12700">
            <a:miter/>
          </a:ln>
        </p:spPr>
        <p:txBody>
          <a:bodyPr wrap="square" lIns="91424" tIns="91424" rIns="91424" bIns="91424">
            <a:spAutoFit/>
          </a:bodyPr>
          <a:lstStyle>
            <a:defPPr algn="r"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defPPr>
            <a:lvl1pPr algn="r">
              <a:buNone/>
              <a:defRPr sz="34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1pPr>
            <a:lvl2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2pPr>
            <a:lvl3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3pPr>
            <a:lvl4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4pPr>
            <a:lvl5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5pPr>
            <a:lvl6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6pPr>
            <a:lvl7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7pPr>
            <a:lvl8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8pPr>
            <a:lvl9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9pPr>
          </a:lstStyle>
          <a:p>
            <a: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200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Команда </a:t>
            </a:r>
            <a:r>
              <a:rPr sz="1200" b="0"/>
              <a:t>№2</a:t>
            </a:r>
            <a:r>
              <a:rPr sz="1200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 «Уравнение Бога»</a:t>
            </a:r>
            <a:endParaRPr sz="1200" b="0"/>
          </a:p>
        </p:txBody>
      </p:sp>
    </p:spTree>
    <p:extLst>
      <p:ext uri="{BB962C8B-B14F-4D97-AF65-F5344CB8AC3E}">
        <p14:creationId xmlns:p14="http://schemas.microsoft.com/office/powerpoint/2010/main" val="380851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DE6E4695-6C48-41DF-8EF2-F76F47923389}"/>
              </a:ext>
            </a:extLst>
          </p:cNvPr>
          <p:cNvSpPr>
            <a:spLocks noGrp="1"/>
          </p:cNvSpPr>
          <p:nvPr/>
        </p:nvSpPr>
        <p:spPr>
          <a:xfrm>
            <a:off x="552450" y="295275"/>
            <a:ext cx="8029575" cy="704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r">
              <a:defRPr sz="2925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defPPr>
            <a:lvl1pPr algn="r">
              <a:buNone/>
              <a:defRPr sz="2925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1pPr>
            <a:lvl2pPr algn="r">
              <a:buNone/>
              <a:defRPr sz="2925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2pPr>
            <a:lvl3pPr algn="r">
              <a:buNone/>
              <a:defRPr sz="2925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3pPr>
            <a:lvl4pPr algn="r">
              <a:buNone/>
              <a:defRPr sz="2925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4pPr>
            <a:lvl5pPr algn="r">
              <a:buNone/>
              <a:defRPr sz="2925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5pPr>
            <a:lvl6pPr algn="r">
              <a:buNone/>
              <a:defRPr sz="2925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6pPr>
            <a:lvl7pPr algn="r">
              <a:buNone/>
              <a:defRPr sz="2925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7pPr>
            <a:lvl8pPr algn="r">
              <a:buNone/>
              <a:defRPr sz="2925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8pPr>
            <a:lvl9pPr algn="r">
              <a:buNone/>
              <a:defRPr sz="2925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9pPr>
          </a:lstStyle>
          <a:p>
            <a:pPr algn="r">
              <a:buNone/>
              <a:defRPr sz="2925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2925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Проверка на плате и ресурсы FPGA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xmlns="" id="{AABBE3CC-ABBA-471B-9FC6-B93EFD16ED48}"/>
              </a:ext>
            </a:extLst>
          </p:cNvPr>
          <p:cNvSpPr>
            <a:spLocks noGrp="1"/>
          </p:cNvSpPr>
          <p:nvPr/>
        </p:nvSpPr>
        <p:spPr>
          <a:xfrm>
            <a:off x="3733800" y="1266825"/>
            <a:ext cx="4857750" cy="2667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138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defPPr>
            <a:lvl1pPr algn="l">
              <a:buNone/>
              <a:defRPr sz="138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1pPr>
            <a:lvl2pPr algn="l">
              <a:buNone/>
              <a:defRPr sz="138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2pPr>
            <a:lvl3pPr algn="l">
              <a:buNone/>
              <a:defRPr sz="138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3pPr>
            <a:lvl4pPr algn="l">
              <a:buNone/>
              <a:defRPr sz="138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4pPr>
            <a:lvl5pPr algn="l">
              <a:buNone/>
              <a:defRPr sz="138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5pPr>
            <a:lvl6pPr algn="l">
              <a:buNone/>
              <a:defRPr sz="138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6pPr>
            <a:lvl7pPr algn="l">
              <a:buNone/>
              <a:defRPr sz="138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7pPr>
            <a:lvl8pPr algn="l">
              <a:buNone/>
              <a:defRPr sz="138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8pPr>
            <a:lvl9pPr algn="l">
              <a:buNone/>
              <a:defRPr sz="138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9pPr>
          </a:lstStyle>
          <a:p>
            <a:pPr algn="l">
              <a:buNone/>
              <a:defRPr sz="138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Команда проверила на плате: воспроизведение трёх треков, клавиатуру, VGA, таймер, LED / RGB и сон / пробуждение.</a:t>
            </a:r>
          </a:p>
          <a:p>
            <a:endParaRPr sz="1800">
              <a:solidFill>
                <a:srgbClr val="2B323A"/>
              </a:solidFill>
              <a:latin typeface="SB Sans Display"/>
              <a:ea typeface="SB Sans Display"/>
              <a:cs typeface="SB Sans Display"/>
            </a:endParaRPr>
          </a:p>
          <a:p>
            <a:pPr algn="l">
              <a:buNone/>
              <a:defRPr sz="138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Ресурсы после размещения Vivado:</a:t>
            </a:r>
          </a:p>
          <a:p>
            <a:pPr algn="l">
              <a:buNone/>
              <a:defRPr sz="138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LUT 7 777 / 63 400 — 12,27%</a:t>
            </a:r>
          </a:p>
          <a:p>
            <a:pPr algn="l">
              <a:buNone/>
              <a:defRPr sz="138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Регистры 2 148 / 126 800 — 1,69%</a:t>
            </a:r>
          </a:p>
          <a:p>
            <a:pPr algn="l">
              <a:buNone/>
              <a:defRPr sz="138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BRAM 49 / 135 — 36% </a:t>
            </a:r>
          </a:p>
          <a:p>
            <a:pPr algn="l">
              <a:buNone/>
              <a:defRPr sz="138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DSP 12 / 240 — 5%</a:t>
            </a:r>
          </a:p>
          <a:p>
            <a:endParaRPr sz="1388">
              <a:solidFill>
                <a:srgbClr val="2B323A"/>
              </a:solidFill>
              <a:latin typeface="SB Sans Display"/>
              <a:ea typeface="SB Sans Display"/>
              <a:cs typeface="SB Sans Display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668E5B47-F5AE-4755-B72B-0052766DC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525191"/>
            <a:ext cx="2905125" cy="2178844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F4EFB678-6793-422C-833A-EC395FE95D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64766" y="4314825"/>
            <a:ext cx="1842294" cy="523875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551D9E38-AFBA-4ED1-B61D-3166140E0C39}"/>
              </a:ext>
            </a:extLst>
          </p:cNvPr>
          <p:cNvSpPr>
            <a:spLocks noGrp="1"/>
          </p:cNvSpPr>
          <p:nvPr/>
        </p:nvSpPr>
        <p:spPr>
          <a:xfrm>
            <a:off x="1898523" y="4524375"/>
            <a:ext cx="4791075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r"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defPPr>
            <a:lvl1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1pPr>
            <a:lvl2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2pPr>
            <a:lvl3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3pPr>
            <a:lvl4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4pPr>
            <a:lvl5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5pPr>
            <a:lvl6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6pPr>
            <a:lvl7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7pPr>
            <a:lvl8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8pPr>
            <a:lvl9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9pPr>
          </a:lstStyle>
          <a:p>
            <a: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endParaRPr sz="2800">
              <a:solidFill>
                <a:srgbClr val="2B323A"/>
              </a:solidFill>
              <a:latin typeface="SB Sans Display"/>
              <a:ea typeface="SB Sans Display"/>
              <a:cs typeface="SB Sans Display"/>
            </a:endParaRPr>
          </a:p>
        </p:txBody>
      </p:sp>
      <p:sp>
        <p:nvSpPr>
          <p:cNvPr id="7" name="Google Shape;32;p10">
            <a:extLst>
              <a:ext uri="{FF2B5EF4-FFF2-40B4-BE49-F238E27FC236}">
                <a16:creationId xmlns:a16="http://schemas.microsoft.com/office/drawing/2014/main" xmlns="" id="{FA47EC7F-435F-41F7-BCF2-E48E3407EE3F}"/>
              </a:ext>
            </a:extLst>
          </p:cNvPr>
          <p:cNvSpPr>
            <a:spLocks noGrp="1"/>
          </p:cNvSpPr>
          <p:nvPr/>
        </p:nvSpPr>
        <p:spPr>
          <a:xfrm>
            <a:off x="6526203" y="4733979"/>
            <a:ext cx="2539419" cy="369300"/>
          </a:xfrm>
          <a:prstGeom prst="rect">
            <a:avLst/>
          </a:prstGeom>
          <a:ln w="12700">
            <a:miter/>
          </a:ln>
        </p:spPr>
        <p:txBody>
          <a:bodyPr wrap="square" lIns="91424" tIns="91424" rIns="91424" bIns="91424">
            <a:spAutoFit/>
          </a:bodyPr>
          <a:lstStyle>
            <a:defPPr algn="r"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defPPr>
            <a:lvl1pPr algn="r">
              <a:buNone/>
              <a:defRPr sz="34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1pPr>
            <a:lvl2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2pPr>
            <a:lvl3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3pPr>
            <a:lvl4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4pPr>
            <a:lvl5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5pPr>
            <a:lvl6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6pPr>
            <a:lvl7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7pPr>
            <a:lvl8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8pPr>
            <a:lvl9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9pPr>
          </a:lstStyle>
          <a:p>
            <a: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200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Команда </a:t>
            </a:r>
            <a:r>
              <a:rPr sz="1200" b="0"/>
              <a:t>№2</a:t>
            </a:r>
            <a:r>
              <a:rPr sz="1200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 «Уравнение Бога»</a:t>
            </a:r>
            <a:endParaRPr sz="1200" b="0"/>
          </a:p>
        </p:txBody>
      </p:sp>
    </p:spTree>
    <p:extLst>
      <p:ext uri="{BB962C8B-B14F-4D97-AF65-F5344CB8AC3E}">
        <p14:creationId xmlns:p14="http://schemas.microsoft.com/office/powerpoint/2010/main" val="598403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365BE3B3-1C37-4F51-B9D9-66617519FF09}"/>
              </a:ext>
            </a:extLst>
          </p:cNvPr>
          <p:cNvSpPr>
            <a:spLocks noGrp="1"/>
          </p:cNvSpPr>
          <p:nvPr/>
        </p:nvSpPr>
        <p:spPr>
          <a:xfrm>
            <a:off x="552450" y="295275"/>
            <a:ext cx="8029575" cy="704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r">
              <a:defRPr sz="2925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defPPr>
            <a:lvl1pPr algn="r">
              <a:buNone/>
              <a:defRPr sz="2925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1pPr>
            <a:lvl2pPr algn="r">
              <a:buNone/>
              <a:defRPr sz="2925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2pPr>
            <a:lvl3pPr algn="r">
              <a:buNone/>
              <a:defRPr sz="2925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3pPr>
            <a:lvl4pPr algn="r">
              <a:buNone/>
              <a:defRPr sz="2925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4pPr>
            <a:lvl5pPr algn="r">
              <a:buNone/>
              <a:defRPr sz="2925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5pPr>
            <a:lvl6pPr algn="r">
              <a:buNone/>
              <a:defRPr sz="2925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6pPr>
            <a:lvl7pPr algn="r">
              <a:buNone/>
              <a:defRPr sz="2925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7pPr>
            <a:lvl8pPr algn="r">
              <a:buNone/>
              <a:defRPr sz="2925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8pPr>
            <a:lvl9pPr algn="r">
              <a:buNone/>
              <a:defRPr sz="2925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9pPr>
          </a:lstStyle>
          <a:p>
            <a:pPr algn="r">
              <a:buNone/>
              <a:defRPr sz="2925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2925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Архитектура RTL-проекта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xmlns="" id="{FEAE914F-A068-41C2-874C-EE9611E6C5EB}"/>
              </a:ext>
            </a:extLst>
          </p:cNvPr>
          <p:cNvSpPr>
            <a:spLocks noGrp="1"/>
          </p:cNvSpPr>
          <p:nvPr/>
        </p:nvSpPr>
        <p:spPr>
          <a:xfrm>
            <a:off x="3733800" y="1238250"/>
            <a:ext cx="4857750" cy="2857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153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defPPr>
            <a:lvl1pPr algn="l">
              <a:buNone/>
              <a:defRPr sz="138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1pPr>
            <a:lvl2pPr algn="l">
              <a:buNone/>
              <a:defRPr sz="138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2pPr>
            <a:lvl3pPr algn="l">
              <a:buNone/>
              <a:defRPr sz="138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3pPr>
            <a:lvl4pPr algn="l">
              <a:buNone/>
              <a:defRPr sz="138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4pPr>
            <a:lvl5pPr algn="l">
              <a:buNone/>
              <a:defRPr sz="138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5pPr>
            <a:lvl6pPr algn="l">
              <a:buNone/>
              <a:defRPr sz="138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6pPr>
            <a:lvl7pPr algn="l">
              <a:buNone/>
              <a:defRPr sz="138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7pPr>
            <a:lvl8pPr algn="l">
              <a:buNone/>
              <a:defRPr sz="138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8pPr>
            <a:lvl9pPr algn="l">
              <a:buNone/>
              <a:defRPr sz="138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9pPr>
          </a:lstStyle>
          <a:p>
            <a:pPr algn="l">
              <a:buNone/>
              <a:defRPr sz="153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53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player_top соединяет RTL-блоки в одной схеме.</a:t>
            </a:r>
            <a:endParaRPr sz="1800">
              <a:solidFill>
                <a:srgbClr val="2B323A"/>
              </a:solidFill>
              <a:latin typeface="SB Sans Display"/>
              <a:ea typeface="SB Sans Display"/>
              <a:cs typeface="SB Sans Display"/>
            </a:endParaRPr>
          </a:p>
          <a:p>
            <a:pPr algn="l">
              <a:buNone/>
              <a:defRPr sz="153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53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PS/2 → контроллер: выбор трека и команды.</a:t>
            </a:r>
            <a:endParaRPr sz="1800">
              <a:solidFill>
                <a:srgbClr val="2B323A"/>
              </a:solidFill>
              <a:latin typeface="SB Sans Display"/>
              <a:ea typeface="SB Sans Display"/>
              <a:cs typeface="SB Sans Display"/>
            </a:endParaRPr>
          </a:p>
          <a:p>
            <a:pPr algn="l">
              <a:buNone/>
              <a:defRPr sz="153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53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microSD → SPI-сектора → FAT32/WAV-плеер.</a:t>
            </a:r>
          </a:p>
          <a:p>
            <a:pPr algn="l">
              <a:buNone/>
              <a:defRPr sz="153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53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FIFO выравнивает поток; PCM: 8 бит, 48 кГц.</a:t>
            </a:r>
            <a:endParaRPr sz="1800">
              <a:solidFill>
                <a:srgbClr val="2B323A"/>
              </a:solidFill>
              <a:latin typeface="SB Sans Display"/>
              <a:ea typeface="SB Sans Display"/>
              <a:cs typeface="SB Sans Display"/>
            </a:endParaRPr>
          </a:p>
          <a:p>
            <a:pPr algn="l">
              <a:buNone/>
              <a:defRPr sz="153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53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Сэмплы идут на аудио, измеритель уровня и анализатор.</a:t>
            </a:r>
            <a:endParaRPr sz="1800">
              <a:solidFill>
                <a:srgbClr val="2B323A"/>
              </a:solidFill>
              <a:latin typeface="SB Sans Display"/>
              <a:ea typeface="SB Sans Display"/>
              <a:cs typeface="SB Sans Display"/>
            </a:endParaRPr>
          </a:p>
          <a:p>
            <a:pPr algn="l">
              <a:buNone/>
              <a:defRPr sz="153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538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100 МГц — управление и звук; 40 МГц — VGA.</a:t>
            </a:r>
            <a:endParaRPr sz="1800">
              <a:solidFill>
                <a:srgbClr val="2B323A"/>
              </a:solidFill>
              <a:latin typeface="SB Sans Display"/>
              <a:ea typeface="SB Sans Display"/>
              <a:cs typeface="SB Sans Display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33A24B50-CEA8-4599-B017-B8D81A028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4766" y="4314825"/>
            <a:ext cx="1842294" cy="523875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3634D301-B53A-4665-8CF2-A2578B377A81}"/>
              </a:ext>
            </a:extLst>
          </p:cNvPr>
          <p:cNvSpPr>
            <a:spLocks noGrp="1"/>
          </p:cNvSpPr>
          <p:nvPr/>
        </p:nvSpPr>
        <p:spPr>
          <a:xfrm>
            <a:off x="3800476" y="4681728"/>
            <a:ext cx="1790428" cy="137922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r"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defPPr>
            <a:lvl1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1pPr>
            <a:lvl2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2pPr>
            <a:lvl3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3pPr>
            <a:lvl4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4pPr>
            <a:lvl5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5pPr>
            <a:lvl6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6pPr>
            <a:lvl7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7pPr>
            <a:lvl8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8pPr>
            <a:lvl9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9pPr>
          </a:lstStyle>
          <a:p>
            <a: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endParaRPr sz="2800">
              <a:solidFill>
                <a:srgbClr val="2B323A"/>
              </a:solidFill>
              <a:latin typeface="SB Sans Display"/>
              <a:ea typeface="SB Sans Display"/>
              <a:cs typeface="SB Sans Display"/>
            </a:endParaRPr>
          </a:p>
        </p:txBody>
      </p:sp>
      <p:sp>
        <p:nvSpPr>
          <p:cNvPr id="7" name="Google Shape;32;p10">
            <a:extLst>
              <a:ext uri="{FF2B5EF4-FFF2-40B4-BE49-F238E27FC236}">
                <a16:creationId xmlns:a16="http://schemas.microsoft.com/office/drawing/2014/main" xmlns="" id="{88BC6F83-8432-4B7E-8516-50BE69BA628B}"/>
              </a:ext>
            </a:extLst>
          </p:cNvPr>
          <p:cNvSpPr>
            <a:spLocks noGrp="1"/>
          </p:cNvSpPr>
          <p:nvPr/>
        </p:nvSpPr>
        <p:spPr>
          <a:xfrm>
            <a:off x="6526203" y="4733979"/>
            <a:ext cx="2539419" cy="369300"/>
          </a:xfrm>
          <a:prstGeom prst="rect">
            <a:avLst/>
          </a:prstGeom>
          <a:ln w="12700">
            <a:miter/>
          </a:ln>
        </p:spPr>
        <p:txBody>
          <a:bodyPr wrap="square" lIns="91424" tIns="91424" rIns="91424" bIns="91424">
            <a:spAutoFit/>
          </a:bodyPr>
          <a:lstStyle>
            <a:defPPr algn="r"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defPPr>
            <a:lvl1pPr algn="r">
              <a:buNone/>
              <a:defRPr sz="34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1pPr>
            <a:lvl2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2pPr>
            <a:lvl3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3pPr>
            <a:lvl4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4pPr>
            <a:lvl5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5pPr>
            <a:lvl6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6pPr>
            <a:lvl7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7pPr>
            <a:lvl8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8pPr>
            <a:lvl9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9pPr>
          </a:lstStyle>
          <a:p>
            <a:pPr algn="r">
              <a:buNone/>
              <a:defRPr sz="280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200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Команда </a:t>
            </a:r>
            <a:r>
              <a:rPr sz="1200" b="0"/>
              <a:t>№2</a:t>
            </a:r>
            <a:r>
              <a:rPr sz="1200" b="0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 «Уравнение Бога»</a:t>
            </a:r>
            <a:endParaRPr sz="1200" b="0"/>
          </a:p>
        </p:txBody>
      </p:sp>
      <p:sp>
        <p:nvSpPr>
          <p:cNvPr id="8" name="arch-ps2">
            <a:extLst>
              <a:ext uri="{FF2B5EF4-FFF2-40B4-BE49-F238E27FC236}">
                <a16:creationId xmlns:a16="http://schemas.microsoft.com/office/drawing/2014/main" xmlns="" id="{B0480B1C-EE09-4576-BD5D-7289E9EC2AC8}"/>
              </a:ext>
            </a:extLst>
          </p:cNvPr>
          <p:cNvSpPr>
            <a:spLocks noGrp="1"/>
          </p:cNvSpPr>
          <p:nvPr/>
        </p:nvSpPr>
        <p:spPr>
          <a:xfrm>
            <a:off x="523875" y="1428750"/>
            <a:ext cx="1257300" cy="476250"/>
          </a:xfrm>
          <a:prstGeom prst="roundRect">
            <a:avLst>
              <a:gd name="adj" fmla="val 16000"/>
            </a:avLst>
          </a:prstGeom>
          <a:solidFill>
            <a:srgbClr val="F3F9D7"/>
          </a:solidFill>
          <a:ln w="11430">
            <a:solidFill>
              <a:srgbClr val="59715F"/>
            </a:solidFill>
            <a:prstDash val="solid"/>
          </a:ln>
        </p:spPr>
        <p:txBody>
          <a:bodyPr lIns="38100" tIns="19050" rIns="38100" bIns="19050" anchor="ctr"/>
          <a:lstStyle>
            <a:defPPr algn="ctr">
              <a:def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defPPr>
            <a:lvl1pPr algn="ctr">
              <a:buNone/>
              <a:def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1pPr>
            <a:lvl2pPr algn="ctr">
              <a:buNone/>
              <a:def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2pPr>
            <a:lvl3pPr algn="ctr">
              <a:buNone/>
              <a:def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3pPr>
            <a:lvl4pPr algn="ctr">
              <a:buNone/>
              <a:def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4pPr>
            <a:lvl5pPr algn="ctr">
              <a:buNone/>
              <a:def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5pPr>
            <a:lvl6pPr algn="ctr">
              <a:buNone/>
              <a:def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6pPr>
            <a:lvl7pPr algn="ctr">
              <a:buNone/>
              <a:def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7pPr>
            <a:lvl8pPr algn="ctr">
              <a:buNone/>
              <a:def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8pPr>
            <a:lvl9pPr algn="ctr">
              <a:buNone/>
              <a:def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9pPr>
          </a:lstStyle>
          <a:p>
            <a:pPr algn="ctr">
              <a:buNone/>
              <a:def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PS/2</a:t>
            </a:r>
          </a:p>
          <a:p>
            <a:pPr algn="ctr">
              <a:buNone/>
              <a:def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клавиатура</a:t>
            </a:r>
          </a:p>
        </p:txBody>
      </p:sp>
      <p:sp>
        <p:nvSpPr>
          <p:cNvPr id="9" name="arch-sd">
            <a:extLst>
              <a:ext uri="{FF2B5EF4-FFF2-40B4-BE49-F238E27FC236}">
                <a16:creationId xmlns:a16="http://schemas.microsoft.com/office/drawing/2014/main" xmlns="" id="{C2F551F8-FB2D-4626-9389-4DFE7FEC3A19}"/>
              </a:ext>
            </a:extLst>
          </p:cNvPr>
          <p:cNvSpPr>
            <a:spLocks noGrp="1"/>
          </p:cNvSpPr>
          <p:nvPr/>
        </p:nvSpPr>
        <p:spPr>
          <a:xfrm>
            <a:off x="2047875" y="1428750"/>
            <a:ext cx="1257300" cy="476250"/>
          </a:xfrm>
          <a:prstGeom prst="roundRect">
            <a:avLst>
              <a:gd name="adj" fmla="val 16000"/>
            </a:avLst>
          </a:prstGeom>
          <a:solidFill>
            <a:srgbClr val="FFF5C7"/>
          </a:solidFill>
          <a:ln w="11430">
            <a:solidFill>
              <a:srgbClr val="59715F"/>
            </a:solidFill>
            <a:prstDash val="solid"/>
          </a:ln>
        </p:spPr>
        <p:txBody>
          <a:bodyPr lIns="38100" tIns="19050" rIns="38100" bIns="19050" anchor="ctr"/>
          <a:lstStyle>
            <a:defPPr algn="ctr">
              <a:def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defPPr>
            <a:lvl1pPr algn="ctr">
              <a:buNone/>
              <a:def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1pPr>
            <a:lvl2pPr algn="ctr">
              <a:buNone/>
              <a:def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2pPr>
            <a:lvl3pPr algn="ctr">
              <a:buNone/>
              <a:def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3pPr>
            <a:lvl4pPr algn="ctr">
              <a:buNone/>
              <a:def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4pPr>
            <a:lvl5pPr algn="ctr">
              <a:buNone/>
              <a:def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5pPr>
            <a:lvl6pPr algn="ctr">
              <a:buNone/>
              <a:def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6pPr>
            <a:lvl7pPr algn="ctr">
              <a:buNone/>
              <a:def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7pPr>
            <a:lvl8pPr algn="ctr">
              <a:buNone/>
              <a:def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8pPr>
            <a:lvl9pPr algn="ctr">
              <a:buNone/>
              <a:def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9pPr>
          </a:lstStyle>
          <a:p>
            <a:pPr algn="ctr">
              <a:buNone/>
              <a:def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microSD</a:t>
            </a:r>
          </a:p>
          <a:p>
            <a:pPr algn="ctr">
              <a:buNone/>
              <a:def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карта</a:t>
            </a:r>
          </a:p>
        </p:txBody>
      </p:sp>
      <p:sp>
        <p:nvSpPr>
          <p:cNvPr id="10" name="arch-arrow-ps2">
            <a:extLst>
              <a:ext uri="{FF2B5EF4-FFF2-40B4-BE49-F238E27FC236}">
                <a16:creationId xmlns:a16="http://schemas.microsoft.com/office/drawing/2014/main" xmlns="" id="{1B075B86-E16D-4DCB-92EF-67DAAF92D078}"/>
              </a:ext>
            </a:extLst>
          </p:cNvPr>
          <p:cNvSpPr>
            <a:spLocks noGrp="1"/>
          </p:cNvSpPr>
          <p:nvPr/>
        </p:nvSpPr>
        <p:spPr>
          <a:xfrm>
            <a:off x="1028700" y="1914525"/>
            <a:ext cx="209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defPPr>
            <a:lvl1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1pPr>
            <a:lvl2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2pPr>
            <a:lvl3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3pPr>
            <a:lvl4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4pPr>
            <a:lvl5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5pPr>
            <a:lvl6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6pPr>
            <a:lvl7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7pPr>
            <a:lvl8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8pPr>
            <a:lvl9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9pPr>
          </a:lstStyle>
          <a:p>
            <a: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↓</a:t>
            </a:r>
          </a:p>
        </p:txBody>
      </p:sp>
      <p:sp>
        <p:nvSpPr>
          <p:cNvPr id="11" name="arch-arrow-sd">
            <a:extLst>
              <a:ext uri="{FF2B5EF4-FFF2-40B4-BE49-F238E27FC236}">
                <a16:creationId xmlns:a16="http://schemas.microsoft.com/office/drawing/2014/main" xmlns="" id="{6CCEF97B-D1AA-41B5-9153-E19710B7DF6B}"/>
              </a:ext>
            </a:extLst>
          </p:cNvPr>
          <p:cNvSpPr>
            <a:spLocks noGrp="1"/>
          </p:cNvSpPr>
          <p:nvPr/>
        </p:nvSpPr>
        <p:spPr>
          <a:xfrm>
            <a:off x="2571750" y="1914525"/>
            <a:ext cx="209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defPPr>
            <a:lvl1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1pPr>
            <a:lvl2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2pPr>
            <a:lvl3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3pPr>
            <a:lvl4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4pPr>
            <a:lvl5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5pPr>
            <a:lvl6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6pPr>
            <a:lvl7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7pPr>
            <a:lvl8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8pPr>
            <a:lvl9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9pPr>
          </a:lstStyle>
          <a:p>
            <a: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↓</a:t>
            </a:r>
          </a:p>
        </p:txBody>
      </p:sp>
      <p:sp>
        <p:nvSpPr>
          <p:cNvPr id="12" name="arch-core">
            <a:extLst>
              <a:ext uri="{FF2B5EF4-FFF2-40B4-BE49-F238E27FC236}">
                <a16:creationId xmlns:a16="http://schemas.microsoft.com/office/drawing/2014/main" xmlns="" id="{9FBA7476-7FE6-42D4-9879-707E4CBC11E4}"/>
              </a:ext>
            </a:extLst>
          </p:cNvPr>
          <p:cNvSpPr>
            <a:spLocks noGrp="1"/>
          </p:cNvSpPr>
          <p:nvPr/>
        </p:nvSpPr>
        <p:spPr>
          <a:xfrm>
            <a:off x="523875" y="2133600"/>
            <a:ext cx="2781300" cy="552450"/>
          </a:xfrm>
          <a:prstGeom prst="roundRect">
            <a:avLst>
              <a:gd name="adj" fmla="val 13793"/>
            </a:avLst>
          </a:prstGeom>
          <a:solidFill>
            <a:srgbClr val="E6F4D0"/>
          </a:solidFill>
          <a:ln w="11430">
            <a:solidFill>
              <a:srgbClr val="59715F"/>
            </a:solidFill>
            <a:prstDash val="solid"/>
          </a:ln>
        </p:spPr>
        <p:txBody>
          <a:bodyPr lIns="38100" tIns="19050" rIns="38100" bIns="19050" anchor="ctr"/>
          <a:lstStyle>
            <a:defPPr algn="ctr">
              <a:def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defPPr>
            <a:lvl1pPr algn="ctr">
              <a:buNone/>
              <a:def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1pPr>
            <a:lvl2pPr algn="ctr">
              <a:buNone/>
              <a:def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2pPr>
            <a:lvl3pPr algn="ctr">
              <a:buNone/>
              <a:def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3pPr>
            <a:lvl4pPr algn="ctr">
              <a:buNone/>
              <a:def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4pPr>
            <a:lvl5pPr algn="ctr">
              <a:buNone/>
              <a:def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5pPr>
            <a:lvl6pPr algn="ctr">
              <a:buNone/>
              <a:def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6pPr>
            <a:lvl7pPr algn="ctr">
              <a:buNone/>
              <a:def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7pPr>
            <a:lvl8pPr algn="ctr">
              <a:buNone/>
              <a:def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8pPr>
            <a:lvl9pPr algn="ctr">
              <a:buNone/>
              <a:def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9pPr>
          </a:lstStyle>
          <a:p>
            <a:pPr algn="ctr">
              <a:buNone/>
              <a:def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player_top</a:t>
            </a:r>
          </a:p>
          <a:p>
            <a:pPr algn="ctr">
              <a:buNone/>
              <a:def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125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контроллер + FAT32/WAV + FIFO</a:t>
            </a:r>
          </a:p>
        </p:txBody>
      </p:sp>
      <p:sp>
        <p:nvSpPr>
          <p:cNvPr id="13" name="arch-arrow-core">
            <a:extLst>
              <a:ext uri="{FF2B5EF4-FFF2-40B4-BE49-F238E27FC236}">
                <a16:creationId xmlns:a16="http://schemas.microsoft.com/office/drawing/2014/main" xmlns="" id="{869D9348-ADC0-4629-852C-44FF2865E34F}"/>
              </a:ext>
            </a:extLst>
          </p:cNvPr>
          <p:cNvSpPr>
            <a:spLocks noGrp="1"/>
          </p:cNvSpPr>
          <p:nvPr/>
        </p:nvSpPr>
        <p:spPr>
          <a:xfrm>
            <a:off x="1809750" y="2695575"/>
            <a:ext cx="209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defPPr>
            <a:lvl1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1pPr>
            <a:lvl2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2pPr>
            <a:lvl3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3pPr>
            <a:lvl4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4pPr>
            <a:lvl5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5pPr>
            <a:lvl6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6pPr>
            <a:lvl7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7pPr>
            <a:lvl8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8pPr>
            <a:lvl9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9pPr>
          </a:lstStyle>
          <a:p>
            <a: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↓</a:t>
            </a:r>
          </a:p>
        </p:txBody>
      </p:sp>
      <p:sp>
        <p:nvSpPr>
          <p:cNvPr id="14" name="arch-pcm">
            <a:extLst>
              <a:ext uri="{FF2B5EF4-FFF2-40B4-BE49-F238E27FC236}">
                <a16:creationId xmlns:a16="http://schemas.microsoft.com/office/drawing/2014/main" xmlns="" id="{0F8AC9DF-EDAE-4C03-A309-99315E3C13B4}"/>
              </a:ext>
            </a:extLst>
          </p:cNvPr>
          <p:cNvSpPr>
            <a:spLocks noGrp="1"/>
          </p:cNvSpPr>
          <p:nvPr/>
        </p:nvSpPr>
        <p:spPr>
          <a:xfrm>
            <a:off x="523875" y="2895600"/>
            <a:ext cx="2781300" cy="476250"/>
          </a:xfrm>
          <a:prstGeom prst="roundRect">
            <a:avLst>
              <a:gd name="adj" fmla="val 16000"/>
            </a:avLst>
          </a:prstGeom>
          <a:solidFill>
            <a:srgbClr val="FFF4C5"/>
          </a:solidFill>
          <a:ln w="11430">
            <a:solidFill>
              <a:srgbClr val="59715F"/>
            </a:solidFill>
            <a:prstDash val="solid"/>
          </a:ln>
        </p:spPr>
        <p:txBody>
          <a:bodyPr lIns="38100" tIns="19050" rIns="38100" bIns="19050" anchor="ctr"/>
          <a:lstStyle>
            <a:defPPr algn="ctr">
              <a:defRPr sz="12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defPPr>
            <a:lvl1pPr algn="ctr">
              <a:buNone/>
              <a:defRPr sz="12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1pPr>
            <a:lvl2pPr algn="ctr">
              <a:buNone/>
              <a:defRPr sz="12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2pPr>
            <a:lvl3pPr algn="ctr">
              <a:buNone/>
              <a:defRPr sz="12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3pPr>
            <a:lvl4pPr algn="ctr">
              <a:buNone/>
              <a:defRPr sz="12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4pPr>
            <a:lvl5pPr algn="ctr">
              <a:buNone/>
              <a:defRPr sz="12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5pPr>
            <a:lvl6pPr algn="ctr">
              <a:buNone/>
              <a:defRPr sz="12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6pPr>
            <a:lvl7pPr algn="ctr">
              <a:buNone/>
              <a:defRPr sz="12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7pPr>
            <a:lvl8pPr algn="ctr">
              <a:buNone/>
              <a:defRPr sz="12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8pPr>
            <a:lvl9pPr algn="ctr">
              <a:buNone/>
              <a:defRPr sz="12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9pPr>
          </a:lstStyle>
          <a:p>
            <a:pPr algn="ctr">
              <a:buNone/>
              <a:defRPr sz="12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2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PCM-сэмплы</a:t>
            </a:r>
          </a:p>
          <a:p>
            <a:pPr algn="ctr">
              <a:buNone/>
              <a:defRPr sz="12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2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8 бит · 48 кГц</a:t>
            </a:r>
          </a:p>
        </p:txBody>
      </p:sp>
      <p:sp>
        <p:nvSpPr>
          <p:cNvPr id="15" name="arch-arrow-out">
            <a:extLst>
              <a:ext uri="{FF2B5EF4-FFF2-40B4-BE49-F238E27FC236}">
                <a16:creationId xmlns:a16="http://schemas.microsoft.com/office/drawing/2014/main" xmlns="" id="{893E3C3A-A851-4508-840D-45049D78FAD1}"/>
              </a:ext>
            </a:extLst>
          </p:cNvPr>
          <p:cNvSpPr>
            <a:spLocks noGrp="1"/>
          </p:cNvSpPr>
          <p:nvPr/>
        </p:nvSpPr>
        <p:spPr>
          <a:xfrm>
            <a:off x="1809750" y="3381375"/>
            <a:ext cx="2095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defPPr>
            <a:lvl1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1pPr>
            <a:lvl2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2pPr>
            <a:lvl3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3pPr>
            <a:lvl4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4pPr>
            <a:lvl5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5pPr>
            <a:lvl6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6pPr>
            <a:lvl7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7pPr>
            <a:lvl8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8pPr>
            <a:lvl9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9pPr>
          </a:lstStyle>
          <a:p>
            <a:pPr algn="ctr">
              <a:buNone/>
              <a:def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500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↓</a:t>
            </a:r>
          </a:p>
        </p:txBody>
      </p:sp>
      <p:sp>
        <p:nvSpPr>
          <p:cNvPr id="16" name="arch-audio">
            <a:extLst>
              <a:ext uri="{FF2B5EF4-FFF2-40B4-BE49-F238E27FC236}">
                <a16:creationId xmlns:a16="http://schemas.microsoft.com/office/drawing/2014/main" xmlns="" id="{A8572CDE-67F6-400A-B4B0-4DC3AB8D99F5}"/>
              </a:ext>
            </a:extLst>
          </p:cNvPr>
          <p:cNvSpPr>
            <a:spLocks noGrp="1"/>
          </p:cNvSpPr>
          <p:nvPr/>
        </p:nvSpPr>
        <p:spPr>
          <a:xfrm>
            <a:off x="514350" y="3571875"/>
            <a:ext cx="866775" cy="457200"/>
          </a:xfrm>
          <a:prstGeom prst="roundRect">
            <a:avLst>
              <a:gd name="adj" fmla="val 16667"/>
            </a:avLst>
          </a:prstGeom>
          <a:solidFill>
            <a:srgbClr val="F5F9D6"/>
          </a:solidFill>
          <a:ln w="11430">
            <a:solidFill>
              <a:srgbClr val="59715F"/>
            </a:solidFill>
            <a:prstDash val="solid"/>
          </a:ln>
        </p:spPr>
        <p:txBody>
          <a:bodyPr lIns="38100" tIns="19050" rIns="38100" bIns="19050" anchor="ctr"/>
          <a:lstStyle>
            <a:defPPr algn="ctr">
              <a:def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defPPr>
            <a:lvl1pPr algn="ctr">
              <a:buNone/>
              <a:def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1pPr>
            <a:lvl2pPr algn="ctr">
              <a:buNone/>
              <a:def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2pPr>
            <a:lvl3pPr algn="ctr">
              <a:buNone/>
              <a:def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3pPr>
            <a:lvl4pPr algn="ctr">
              <a:buNone/>
              <a:def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4pPr>
            <a:lvl5pPr algn="ctr">
              <a:buNone/>
              <a:def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5pPr>
            <a:lvl6pPr algn="ctr">
              <a:buNone/>
              <a:def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6pPr>
            <a:lvl7pPr algn="ctr">
              <a:buNone/>
              <a:def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7pPr>
            <a:lvl8pPr algn="ctr">
              <a:buNone/>
              <a:def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8pPr>
            <a:lvl9pPr algn="ctr">
              <a:buNone/>
              <a:def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9pPr>
          </a:lstStyle>
          <a:p>
            <a:pPr algn="ctr">
              <a:buNone/>
              <a:def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AUD_PWM</a:t>
            </a:r>
          </a:p>
          <a:p>
            <a:pPr algn="ctr">
              <a:buNone/>
              <a:def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звук</a:t>
            </a:r>
          </a:p>
        </p:txBody>
      </p:sp>
      <p:sp>
        <p:nvSpPr>
          <p:cNvPr id="17" name="arch-led">
            <a:extLst>
              <a:ext uri="{FF2B5EF4-FFF2-40B4-BE49-F238E27FC236}">
                <a16:creationId xmlns:a16="http://schemas.microsoft.com/office/drawing/2014/main" xmlns="" id="{480BFBBC-A2DF-4598-AC40-78487B5FDE97}"/>
              </a:ext>
            </a:extLst>
          </p:cNvPr>
          <p:cNvSpPr>
            <a:spLocks noGrp="1"/>
          </p:cNvSpPr>
          <p:nvPr/>
        </p:nvSpPr>
        <p:spPr>
          <a:xfrm>
            <a:off x="1476375" y="3571875"/>
            <a:ext cx="866775" cy="457200"/>
          </a:xfrm>
          <a:prstGeom prst="roundRect">
            <a:avLst>
              <a:gd name="adj" fmla="val 16667"/>
            </a:avLst>
          </a:prstGeom>
          <a:solidFill>
            <a:srgbClr val="E6F4D0"/>
          </a:solidFill>
          <a:ln w="11430">
            <a:solidFill>
              <a:srgbClr val="59715F"/>
            </a:solidFill>
            <a:prstDash val="solid"/>
          </a:ln>
        </p:spPr>
        <p:txBody>
          <a:bodyPr lIns="38100" tIns="19050" rIns="38100" bIns="19050" anchor="ctr"/>
          <a:lstStyle>
            <a:defPPr algn="ctr">
              <a:def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defPPr>
            <a:lvl1pPr algn="ctr">
              <a:buNone/>
              <a:def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1pPr>
            <a:lvl2pPr algn="ctr">
              <a:buNone/>
              <a:def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2pPr>
            <a:lvl3pPr algn="ctr">
              <a:buNone/>
              <a:def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3pPr>
            <a:lvl4pPr algn="ctr">
              <a:buNone/>
              <a:def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4pPr>
            <a:lvl5pPr algn="ctr">
              <a:buNone/>
              <a:def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5pPr>
            <a:lvl6pPr algn="ctr">
              <a:buNone/>
              <a:def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6pPr>
            <a:lvl7pPr algn="ctr">
              <a:buNone/>
              <a:def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7pPr>
            <a:lvl8pPr algn="ctr">
              <a:buNone/>
              <a:def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8pPr>
            <a:lvl9pPr algn="ctr">
              <a:buNone/>
              <a:def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9pPr>
          </a:lstStyle>
          <a:p>
            <a:pPr algn="ctr">
              <a:buNone/>
              <a:def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LED / RGB</a:t>
            </a:r>
          </a:p>
          <a:p>
            <a:pPr algn="ctr">
              <a:buNone/>
              <a:def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уровень</a:t>
            </a:r>
          </a:p>
        </p:txBody>
      </p:sp>
      <p:sp>
        <p:nvSpPr>
          <p:cNvPr id="18" name="arch-vga">
            <a:extLst>
              <a:ext uri="{FF2B5EF4-FFF2-40B4-BE49-F238E27FC236}">
                <a16:creationId xmlns:a16="http://schemas.microsoft.com/office/drawing/2014/main" xmlns="" id="{EEA2FF7A-A49F-4A30-ACD8-83420F2778AB}"/>
              </a:ext>
            </a:extLst>
          </p:cNvPr>
          <p:cNvSpPr>
            <a:spLocks noGrp="1"/>
          </p:cNvSpPr>
          <p:nvPr/>
        </p:nvSpPr>
        <p:spPr>
          <a:xfrm>
            <a:off x="2438400" y="3571875"/>
            <a:ext cx="866775" cy="457200"/>
          </a:xfrm>
          <a:prstGeom prst="roundRect">
            <a:avLst>
              <a:gd name="adj" fmla="val 16667"/>
            </a:avLst>
          </a:prstGeom>
          <a:solidFill>
            <a:srgbClr val="FFF4C5"/>
          </a:solidFill>
          <a:ln w="11430">
            <a:solidFill>
              <a:srgbClr val="59715F"/>
            </a:solidFill>
            <a:prstDash val="solid"/>
          </a:ln>
        </p:spPr>
        <p:txBody>
          <a:bodyPr lIns="38100" tIns="19050" rIns="38100" bIns="19050" anchor="ctr"/>
          <a:lstStyle>
            <a:defPPr algn="ctr">
              <a:def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defPPr>
            <a:lvl1pPr algn="ctr">
              <a:buNone/>
              <a:def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1pPr>
            <a:lvl2pPr algn="ctr">
              <a:buNone/>
              <a:def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2pPr>
            <a:lvl3pPr algn="ctr">
              <a:buNone/>
              <a:def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3pPr>
            <a:lvl4pPr algn="ctr">
              <a:buNone/>
              <a:def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4pPr>
            <a:lvl5pPr algn="ctr">
              <a:buNone/>
              <a:def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5pPr>
            <a:lvl6pPr algn="ctr">
              <a:buNone/>
              <a:def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6pPr>
            <a:lvl7pPr algn="ctr">
              <a:buNone/>
              <a:def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7pPr>
            <a:lvl8pPr algn="ctr">
              <a:buNone/>
              <a:def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8pPr>
            <a:lvl9pPr algn="ctr">
              <a:buNone/>
              <a:def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lvl9pPr>
          </a:lstStyle>
          <a:p>
            <a:pPr algn="ctr">
              <a:buNone/>
              <a:def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VGA</a:t>
            </a:r>
          </a:p>
          <a:p>
            <a:pPr algn="ctr">
              <a:buNone/>
              <a:def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defRPr>
            </a:pPr>
            <a:r>
              <a:rPr sz="1013" b="1">
                <a:solidFill>
                  <a:srgbClr val="2B323A"/>
                </a:solidFill>
                <a:latin typeface="SB Sans Display"/>
                <a:ea typeface="SB Sans Display"/>
                <a:cs typeface="SB Sans Display"/>
              </a:rPr>
              <a:t>экран</a:t>
            </a:r>
          </a:p>
        </p:txBody>
      </p:sp>
    </p:spTree>
    <p:extLst>
      <p:ext uri="{BB962C8B-B14F-4D97-AF65-F5344CB8AC3E}">
        <p14:creationId xmlns:p14="http://schemas.microsoft.com/office/powerpoint/2010/main" val="38085116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1065</Words>
  <Application>Microsoft Office PowerPoint</Application>
  <DocSecurity>0</DocSecurity>
  <PresentationFormat>Экран (16:9)</PresentationFormat>
  <Paragraphs>109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Arial</vt:lpstr>
      <vt:lpstr>SB Sans Display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Елена</cp:lastModifiedBy>
  <cp:revision>3</cp:revision>
  <dcterms:created xsi:type="dcterms:W3CDTF">2026-10-25T10:02:45Z</dcterms:created>
  <dcterms:modified xsi:type="dcterms:W3CDTF">2026-10-25T10:20:25Z</dcterms:modified>
</cp:coreProperties>
</file>